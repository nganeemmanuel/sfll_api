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Transport &amp; Network Security: HTTPS &amp; TLS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Building Secure, Scalable, Fault-Tolerant and Low-Latency APIs with Java &amp; Spring Boot</a:t>
            </a:r>
            <a:br/>
            <a:br/>
            <a:r>
              <a:rPr/>
              <a:t>Ngane Emmanuel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2026-02-17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Lesson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 This Lesson, We Will Learn:</a:t>
            </a:r>
          </a:p>
          <a:p>
            <a:pPr lvl="0"/>
            <a:r>
              <a:rPr/>
              <a:t>Why HTTP is dangerous</a:t>
            </a:r>
          </a:p>
          <a:p>
            <a:pPr lvl="0"/>
            <a:r>
              <a:rPr/>
              <a:t>How MITM attacks work</a:t>
            </a:r>
          </a:p>
          <a:p>
            <a:pPr lvl="0"/>
            <a:r>
              <a:rPr/>
              <a:t>What HTTPS and TLS really do</a:t>
            </a:r>
          </a:p>
          <a:p>
            <a:pPr lvl="0"/>
            <a:r>
              <a:rPr/>
              <a:t>How certificates create trust</a:t>
            </a:r>
          </a:p>
          <a:p>
            <a:pPr lvl="0"/>
            <a:r>
              <a:rPr/>
              <a:t>TLS in real-world systems</a:t>
            </a:r>
          </a:p>
          <a:p>
            <a:pPr lvl="0"/>
            <a:r>
              <a:rPr/>
              <a:t>Performance and latency tradeoffs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HTTP Is Dangerous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 = Plain Text Communication</a:t>
            </a:r>
          </a:p>
          <a:p>
            <a:pPr lvl="0" indent="0" marL="0">
              <a:buNone/>
            </a:pPr>
            <a:r>
              <a:rPr/>
              <a:t>When using HTTP:</a:t>
            </a:r>
          </a:p>
          <a:p>
            <a:pPr lvl="0"/>
            <a:r>
              <a:rPr/>
              <a:t>Data is sent without encryption</a:t>
            </a:r>
          </a:p>
          <a:p>
            <a:pPr lvl="0"/>
            <a:r>
              <a:rPr/>
              <a:t>Anyone on the network can read it</a:t>
            </a:r>
          </a:p>
          <a:p>
            <a:pPr lvl="0"/>
            <a:r>
              <a:rPr/>
              <a:t>Anyone can modify it</a:t>
            </a:r>
          </a:p>
          <a:p>
            <a:pPr lvl="0" indent="0" marL="0">
              <a:buNone/>
            </a:pPr>
            <a:r>
              <a:rPr/>
              <a:t>Example: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username=admin</a:t>
            </a:r>
            <a:br/>
            <a:r>
              <a:rPr b="1">
                <a:solidFill>
                  <a:srgbClr val="FF0000"/>
                </a:solidFill>
                <a:latin typeface="Courier"/>
              </a:rPr>
              <a:t>password=1234</a:t>
            </a:r>
          </a:p>
          <a:p>
            <a:pPr lvl="0" indent="0" marL="0">
              <a:buNone/>
            </a:pPr>
            <a:r>
              <a:rPr/>
              <a:t>➡ Visible to attackers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Man-in-the-Middle (MITM)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 MITM Attack?</a:t>
            </a:r>
          </a:p>
          <a:p>
            <a:pPr lvl="0" indent="0" marL="0">
              <a:buNone/>
            </a:pPr>
            <a:r>
              <a:rPr/>
              <a:t>A Man-in-the-Middle attack happens when: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Attacker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Server</a:t>
            </a:r>
          </a:p>
          <a:p>
            <a:pPr lvl="0" indent="0" marL="0">
              <a:buNone/>
            </a:pPr>
            <a:r>
              <a:rPr/>
              <a:t>The attacker:</a:t>
            </a:r>
          </a:p>
          <a:p>
            <a:pPr lvl="0"/>
            <a:r>
              <a:rPr/>
              <a:t>Reads sensitive data</a:t>
            </a:r>
          </a:p>
          <a:p>
            <a:pPr lvl="0"/>
            <a:r>
              <a:rPr/>
              <a:t>Modifies requests</a:t>
            </a:r>
          </a:p>
          <a:p>
            <a:pPr lvl="0"/>
            <a:r>
              <a:rPr/>
              <a:t>Steals credentials</a:t>
            </a:r>
          </a:p>
          <a:p>
            <a:pPr lvl="0"/>
            <a:r>
              <a:rPr/>
              <a:t>Injects malware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MITM Without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Communication Over HTTP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Network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Server</a:t>
            </a:r>
          </a:p>
          <a:p>
            <a:pPr lvl="0" indent="0" marL="0">
              <a:buNone/>
            </a:pPr>
            <a:r>
              <a:rPr/>
              <a:t>Attackers can see:</a:t>
            </a:r>
          </a:p>
          <a:p>
            <a:pPr lvl="0"/>
            <a:r>
              <a:rPr/>
              <a:t>Login credentials</a:t>
            </a:r>
          </a:p>
          <a:p>
            <a:pPr lvl="0"/>
            <a:r>
              <a:rPr/>
              <a:t>Tokens</a:t>
            </a:r>
          </a:p>
          <a:p>
            <a:pPr lvl="0"/>
            <a:r>
              <a:rPr/>
              <a:t>API data</a:t>
            </a:r>
          </a:p>
          <a:p>
            <a:pPr lvl="0"/>
            <a:r>
              <a:rPr/>
              <a:t>Personal information</a:t>
            </a:r>
          </a:p>
          <a:p>
            <a:pPr lvl="0" indent="0" marL="0">
              <a:buNone/>
            </a:pPr>
            <a:r>
              <a:rPr/>
              <a:t>Tools like </a:t>
            </a:r>
            <a:r>
              <a:rPr b="1"/>
              <a:t>Wireshark</a:t>
            </a:r>
            <a:r>
              <a:rPr/>
              <a:t> can capture this traffic.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 to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HTTPS?</a:t>
            </a:r>
          </a:p>
          <a:p>
            <a:pPr lvl="0" indent="0" marL="0">
              <a:buNone/>
            </a:pPr>
            <a:r>
              <a:rPr/>
              <a:t>HTTPS means:</a:t>
            </a:r>
          </a:p>
          <a:p>
            <a:pPr lvl="0" indent="0" marL="1270000">
              <a:buNone/>
            </a:pPr>
            <a:r>
              <a:rPr sz="2000"/>
              <a:t>HTTP + TLS (Transport Layer Security)</a:t>
            </a:r>
          </a:p>
          <a:p>
            <a:pPr lvl="0" indent="0" marL="0">
              <a:buNone/>
            </a:pPr>
            <a:r>
              <a:rPr/>
              <a:t>TLS provides:</a:t>
            </a:r>
          </a:p>
          <a:p>
            <a:pPr lvl="0"/>
            <a:r>
              <a:rPr/>
              <a:t>Encryption</a:t>
            </a:r>
          </a:p>
          <a:p>
            <a:pPr lvl="0"/>
            <a:r>
              <a:rPr/>
              <a:t>Authentication</a:t>
            </a:r>
          </a:p>
          <a:p>
            <a:pPr lvl="0"/>
            <a:r>
              <a:rPr/>
              <a:t>Data integrity</a:t>
            </a:r>
          </a:p>
          <a:p>
            <a:pPr lvl="0" indent="0" marL="0">
              <a:buNone/>
            </a:pPr>
            <a:r>
              <a:rPr/>
              <a:t>Result: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⇄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Encrypted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Tunnel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⇄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Server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TLS?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Transport Layer Security (TLS)</a:t>
            </a:r>
          </a:p>
          <a:p>
            <a:pPr lvl="0" indent="0" marL="0">
              <a:buNone/>
            </a:pPr>
            <a:r>
              <a:rPr/>
              <a:t>TLS is a cryptographic protocol that:</a:t>
            </a:r>
          </a:p>
          <a:p>
            <a:pPr lvl="0"/>
            <a:r>
              <a:rPr/>
              <a:t>Encrypts data in transit</a:t>
            </a:r>
          </a:p>
          <a:p>
            <a:pPr lvl="0"/>
            <a:r>
              <a:rPr/>
              <a:t>Verifies server identity</a:t>
            </a:r>
          </a:p>
          <a:p>
            <a:pPr lvl="0"/>
            <a:r>
              <a:rPr/>
              <a:t>Prevents tampering</a:t>
            </a:r>
          </a:p>
          <a:p>
            <a:pPr lvl="0" indent="0" marL="0">
              <a:buNone/>
            </a:pPr>
            <a:r>
              <a:rPr/>
              <a:t>It works automatically once configured.</a:t>
            </a:r>
          </a:p>
          <a:p>
            <a:pPr lvl="0" indent="0" marL="0">
              <a:buNone/>
            </a:pPr>
            <a:r>
              <a:rPr/>
              <a:t>Developers configure TLS — they do not implement crypto.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Digital Certificates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is a Certificate?</a:t>
            </a:r>
          </a:p>
          <a:p>
            <a:pPr lvl="0" indent="0" marL="0">
              <a:buNone/>
            </a:pPr>
            <a:r>
              <a:rPr/>
              <a:t>A digital certificate is a:</a:t>
            </a:r>
          </a:p>
          <a:p>
            <a:pPr lvl="0" indent="0" marL="1270000">
              <a:buNone/>
            </a:pPr>
            <a:r>
              <a:rPr sz="2000"/>
              <a:t>Proof that a server owns a domain</a:t>
            </a:r>
          </a:p>
          <a:p>
            <a:pPr lvl="0" indent="0" marL="0">
              <a:buNone/>
            </a:pPr>
            <a:r>
              <a:rPr/>
              <a:t>It contains:</a:t>
            </a:r>
          </a:p>
          <a:p>
            <a:pPr lvl="0"/>
            <a:r>
              <a:rPr/>
              <a:t>Domain name</a:t>
            </a:r>
          </a:p>
          <a:p>
            <a:pPr lvl="0"/>
            <a:r>
              <a:rPr/>
              <a:t>Public key</a:t>
            </a:r>
          </a:p>
          <a:p>
            <a:pPr lvl="0"/>
            <a:r>
              <a:rPr/>
              <a:t>Issuer (CA)</a:t>
            </a:r>
          </a:p>
          <a:p>
            <a:pPr lvl="0"/>
            <a:r>
              <a:rPr/>
              <a:t>Expiry date</a:t>
            </a:r>
          </a:p>
          <a:p>
            <a:pPr lvl="0"/>
            <a:r>
              <a:rPr/>
              <a:t>Signature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Certificate Authorities (CA)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Who Issues Certificates?</a:t>
            </a:r>
          </a:p>
          <a:p>
            <a:pPr lvl="0" indent="0" marL="0">
              <a:buNone/>
            </a:pPr>
            <a:r>
              <a:rPr/>
              <a:t>Trusted organizations called CAs:</a:t>
            </a:r>
          </a:p>
          <a:p>
            <a:pPr lvl="0"/>
            <a:r>
              <a:rPr/>
              <a:t>Google</a:t>
            </a:r>
          </a:p>
          <a:p>
            <a:pPr lvl="0"/>
            <a:r>
              <a:rPr/>
              <a:t>CloudFlare</a:t>
            </a:r>
          </a:p>
          <a:p>
            <a:pPr lvl="0"/>
            <a:r>
              <a:rPr/>
              <a:t>AWS</a:t>
            </a:r>
          </a:p>
          <a:p>
            <a:pPr lvl="0" indent="0" marL="0">
              <a:buNone/>
            </a:pPr>
            <a:r>
              <a:rPr/>
              <a:t>Browsers trust these authorities.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Handshake (Connection 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Step-by-Step TLS Handshake</a:t>
            </a:r>
          </a:p>
          <a:p>
            <a:pPr lvl="0" indent="-342900" marL="342900">
              <a:buAutoNum type="arabicPeriod"/>
            </a:pPr>
            <a:r>
              <a:rPr/>
              <a:t>Client sends supported crypto methods</a:t>
            </a:r>
          </a:p>
          <a:p>
            <a:pPr lvl="0" indent="-342900" marL="342900">
              <a:buAutoNum type="arabicPeriod"/>
            </a:pPr>
            <a:r>
              <a:rPr/>
              <a:t>Server sends certificate</a:t>
            </a:r>
          </a:p>
          <a:p>
            <a:pPr lvl="0" indent="-342900" marL="342900">
              <a:buAutoNum type="arabicPeriod"/>
            </a:pPr>
            <a:r>
              <a:rPr/>
              <a:t>Browser verifies certificate</a:t>
            </a:r>
          </a:p>
          <a:p>
            <a:pPr lvl="0" indent="-342900" marL="342900">
              <a:buAutoNum type="arabicPeriod"/>
            </a:pPr>
            <a:r>
              <a:rPr/>
              <a:t>Secure key exchange</a:t>
            </a:r>
          </a:p>
          <a:p>
            <a:pPr lvl="0" indent="-342900" marL="342900">
              <a:buAutoNum type="arabicPeriod"/>
            </a:pPr>
            <a:r>
              <a:rPr/>
              <a:t>Encrypted session starts</a:t>
            </a:r>
          </a:p>
          <a:p>
            <a:pPr lvl="0" indent="0" marL="0">
              <a:buNone/>
            </a:pPr>
            <a:r>
              <a:rPr/>
              <a:t>After this, all traffic is encrypted.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Certificate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Browsers Check Certificates</a:t>
            </a:r>
          </a:p>
          <a:p>
            <a:pPr lvl="0" indent="0" marL="0">
              <a:buNone/>
            </a:pPr>
            <a:r>
              <a:rPr/>
              <a:t>The browser verifies:</a:t>
            </a:r>
          </a:p>
          <a:p>
            <a:pPr lvl="0"/>
            <a:r>
              <a:rPr/>
              <a:t>Is the CA trusted?</a:t>
            </a:r>
          </a:p>
          <a:p>
            <a:pPr lvl="0"/>
            <a:r>
              <a:rPr/>
              <a:t>Is the domain correct?</a:t>
            </a:r>
          </a:p>
          <a:p>
            <a:pPr lvl="0"/>
            <a:r>
              <a:rPr/>
              <a:t>Is it expired?</a:t>
            </a:r>
          </a:p>
          <a:p>
            <a:pPr lvl="0"/>
            <a:r>
              <a:rPr/>
              <a:t>Is it revoked?</a:t>
            </a:r>
          </a:p>
          <a:p>
            <a:pPr lvl="0" indent="0" marL="0">
              <a:buNone/>
            </a:pPr>
            <a:r>
              <a:rPr/>
              <a:t>If verification fails:</a:t>
            </a:r>
          </a:p>
          <a:p>
            <a:pPr lvl="0" indent="0" marL="0">
              <a:buNone/>
            </a:pPr>
            <a:r>
              <a:rPr/>
              <a:t>❌ “Your connection is not private”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TLS Prevents MITM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Protection Mechanism</a:t>
            </a:r>
          </a:p>
          <a:p>
            <a:pPr lvl="0" indent="0" marL="0">
              <a:buNone/>
            </a:pPr>
            <a:r>
              <a:rPr/>
              <a:t>With TLS:</a:t>
            </a:r>
          </a:p>
          <a:p>
            <a:pPr lvl="0"/>
            <a:r>
              <a:rPr/>
              <a:t>Attacker cannot decrypt data</a:t>
            </a:r>
          </a:p>
          <a:p>
            <a:pPr lvl="0"/>
            <a:r>
              <a:rPr/>
              <a:t>Fake servers are rejected</a:t>
            </a:r>
          </a:p>
          <a:p>
            <a:pPr lvl="0"/>
            <a:r>
              <a:rPr/>
              <a:t>Modified packets are detected</a:t>
            </a:r>
          </a:p>
          <a:p>
            <a:pPr lvl="0" indent="0" marL="0">
              <a:buNone/>
            </a:pPr>
            <a:r>
              <a:rPr/>
              <a:t>Attackers only see: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Encrypted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Application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Data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in Real Production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Typical Architecture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HTTPS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Edge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Server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HTTP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Spring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Boot</a:t>
            </a:r>
          </a:p>
          <a:p>
            <a:pPr lvl="0" indent="0" marL="0">
              <a:buNone/>
            </a:pPr>
            <a:r>
              <a:rPr/>
              <a:t>Edge Server Examples:</a:t>
            </a:r>
          </a:p>
          <a:p>
            <a:pPr lvl="0"/>
            <a:r>
              <a:rPr/>
              <a:t>CDN</a:t>
            </a:r>
          </a:p>
          <a:p>
            <a:pPr lvl="0"/>
            <a:r>
              <a:rPr/>
              <a:t>Load balancer</a:t>
            </a:r>
          </a:p>
          <a:p>
            <a:pPr lvl="0"/>
            <a:r>
              <a:rPr/>
              <a:t>Reverse proxy</a:t>
            </a:r>
          </a:p>
          <a:p>
            <a:pPr lvl="0" indent="0" marL="0">
              <a:buNone/>
            </a:pPr>
            <a:r>
              <a:rPr/>
              <a:t>TLS ends at the edge.</a:t>
            </a:r>
          </a:p>
          <a:p>
            <a:pPr lvl="0" indent="0" marL="0">
              <a:buNone/>
            </a:pPr>
            <a:r>
              <a:rPr/>
              <a:t>This is called </a:t>
            </a:r>
            <a:r>
              <a:rPr b="1"/>
              <a:t>TLS Termination</a:t>
            </a:r>
            <a:r>
              <a:rPr/>
              <a:t>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TLS Ends at the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Reasons</a:t>
            </a:r>
          </a:p>
          <a:p>
            <a:pPr lvl="0"/>
            <a:r>
              <a:rPr/>
              <a:t>Better performance</a:t>
            </a:r>
          </a:p>
          <a:p>
            <a:pPr lvl="0"/>
            <a:r>
              <a:rPr/>
              <a:t>Centralized certificate management</a:t>
            </a:r>
          </a:p>
          <a:p>
            <a:pPr lvl="0"/>
            <a:r>
              <a:rPr/>
              <a:t>Easier scaling</a:t>
            </a:r>
          </a:p>
          <a:p>
            <a:pPr lvl="0"/>
            <a:r>
              <a:rPr/>
              <a:t>Automatic renewal</a:t>
            </a:r>
          </a:p>
          <a:p>
            <a:pPr lvl="0"/>
            <a:r>
              <a:rPr/>
              <a:t>Stronger security controls</a:t>
            </a:r>
          </a:p>
          <a:p>
            <a:pPr lvl="0" indent="0" marL="0">
              <a:buNone/>
            </a:pPr>
            <a:r>
              <a:rPr/>
              <a:t>Most production apps do NOT handle TLS directly.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in Learning &amp; Demo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Direct TLS in Spring Boot</a:t>
            </a:r>
          </a:p>
          <a:p>
            <a:pPr lvl="0" indent="0" marL="0">
              <a:buNone/>
            </a:pPr>
            <a:r>
              <a:rPr/>
              <a:t>For learning and demos:</a:t>
            </a:r>
          </a:p>
          <a:p>
            <a:pPr lvl="0" indent="0">
              <a:buNone/>
            </a:pPr>
            <a:br/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HTTPS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Spring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Boot</a:t>
            </a:r>
          </a:p>
          <a:p>
            <a:pPr lvl="0" indent="0" marL="0">
              <a:buNone/>
            </a:pPr>
            <a:r>
              <a:rPr/>
              <a:t>Spring Boot handles TLS.</a:t>
            </a:r>
          </a:p>
          <a:p>
            <a:pPr lvl="0" indent="0" marL="0">
              <a:buNone/>
            </a:pPr>
            <a:r>
              <a:rPr/>
              <a:t>This is useful for:</a:t>
            </a:r>
          </a:p>
          <a:p>
            <a:pPr lvl="0"/>
            <a:r>
              <a:rPr/>
              <a:t>Teaching</a:t>
            </a:r>
          </a:p>
          <a:p>
            <a:pPr lvl="0"/>
            <a:r>
              <a:rPr/>
              <a:t>Testing</a:t>
            </a:r>
          </a:p>
          <a:p>
            <a:pPr lvl="0"/>
            <a:r>
              <a:rPr/>
              <a:t>Small deployments</a:t>
            </a:r>
          </a:p>
          <a:p>
            <a:pPr lvl="0"/>
            <a:r>
              <a:rPr/>
              <a:t>Local development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Enabling HTTPS in Spring Boot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Basic Configuration</a:t>
            </a:r>
          </a:p>
          <a:p>
            <a:pPr lvl="0" indent="0">
              <a:buNone/>
            </a:pPr>
            <a:r>
              <a:rPr>
                <a:latin typeface="Courier"/>
              </a:rPr>
              <a:t>server.port=8443
server.ssl.enabled=true
server.ssl.key-store=classpath:keystore.p12
server.ssl.key-store-password=secret
server.ssl.key-store-type=PKCS12</a:t>
            </a:r>
          </a:p>
          <a:p>
            <a:pPr lvl="0" indent="0" marL="0">
              <a:buNone/>
            </a:pPr>
            <a:r>
              <a:rPr/>
              <a:t>This activates HTTPS.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Enforcing Secure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Force HTTPS with Spring Security</a:t>
            </a:r>
          </a:p>
          <a:p>
            <a:pPr lvl="0" indent="0">
              <a:buNone/>
            </a:pPr>
            <a:r>
              <a:rPr>
                <a:latin typeface="Courier"/>
              </a:rPr>
              <a:t>http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requiresChannel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anyRequest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requiresSecure</a:t>
            </a:r>
            <a:r>
              <a:rPr>
                <a:solidFill>
                  <a:srgbClr val="666666"/>
                </a:solidFill>
                <a:latin typeface="Courier"/>
              </a:rPr>
              <a:t>();</a:t>
            </a:r>
          </a:p>
          <a:p>
            <a:pPr lvl="0" indent="0" marL="0">
              <a:buNone/>
            </a:pPr>
            <a:r>
              <a:rPr/>
              <a:t>Prevents HTTP downgrade attacks.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and Application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Security Layer Stack</a:t>
            </a:r>
          </a:p>
          <a:p>
            <a:pPr lvl="0" indent="0">
              <a:buNone/>
            </a:pPr>
            <a:r>
              <a:rPr b="1">
                <a:solidFill>
                  <a:srgbClr val="FF0000"/>
                </a:solidFill>
                <a:latin typeface="Courier"/>
              </a:rPr>
              <a:t>TLS</a:t>
            </a:r>
            <a:br/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Authentication</a:t>
            </a:r>
            <a:br/>
            <a:r>
              <a:rPr>
                <a:latin typeface="Courier"/>
              </a:rPr>
              <a:t>  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Authorization</a:t>
            </a:r>
            <a:br/>
            <a:r>
              <a:rPr>
                <a:latin typeface="Courier"/>
              </a:rPr>
              <a:t>    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Validation</a:t>
            </a:r>
            <a:br/>
            <a:r>
              <a:rPr>
                <a:latin typeface="Courier"/>
              </a:rPr>
              <a:t>      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Business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Logic</a:t>
            </a:r>
          </a:p>
          <a:p>
            <a:pPr lvl="0" indent="0" marL="0">
              <a:buNone/>
            </a:pPr>
            <a:r>
              <a:rPr/>
              <a:t>TLS protects data in transit.</a:t>
            </a:r>
          </a:p>
          <a:p>
            <a:pPr lvl="0" indent="0" marL="0">
              <a:buNone/>
            </a:pPr>
            <a:r>
              <a:rPr/>
              <a:t>It does NOT replace authentication.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Developer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Frequent Errors</a:t>
            </a:r>
          </a:p>
          <a:p>
            <a:pPr lvl="0"/>
            <a:r>
              <a:rPr/>
              <a:t>Expired certificates</a:t>
            </a:r>
          </a:p>
          <a:p>
            <a:pPr lvl="0"/>
            <a:r>
              <a:rPr/>
              <a:t>Weak TLS versions</a:t>
            </a:r>
          </a:p>
          <a:p>
            <a:pPr lvl="0"/>
            <a:r>
              <a:rPr/>
              <a:t>Mixed HTTP/HTTPS content</a:t>
            </a:r>
          </a:p>
          <a:p>
            <a:pPr lvl="0"/>
            <a:r>
              <a:rPr/>
              <a:t>Self-signed certs in production</a:t>
            </a:r>
          </a:p>
          <a:p>
            <a:pPr lvl="0"/>
            <a:r>
              <a:rPr/>
              <a:t>Missing Secure cookie flag</a:t>
            </a:r>
          </a:p>
          <a:p>
            <a:pPr lvl="0"/>
            <a:r>
              <a:rPr/>
              <a:t>No HTTPS redirection</a:t>
            </a:r>
          </a:p>
          <a:p>
            <a:pPr lvl="0" indent="0" marL="0">
              <a:buNone/>
            </a:pPr>
            <a:r>
              <a:rPr/>
              <a:t>These cause security failures.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MITM Without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 Traffic Capture</a:t>
            </a:r>
          </a:p>
          <a:p>
            <a:pPr lvl="0" indent="-342900" marL="342900">
              <a:buAutoNum type="arabicPeriod"/>
            </a:pPr>
            <a:r>
              <a:rPr/>
              <a:t>Disable SSL</a:t>
            </a:r>
          </a:p>
          <a:p>
            <a:pPr lvl="0" indent="-342900" marL="342900">
              <a:buAutoNum type="arabicPeriod"/>
            </a:pPr>
            <a:r>
              <a:rPr/>
              <a:t>Run app on HTTP</a:t>
            </a:r>
          </a:p>
          <a:p>
            <a:pPr lvl="0" indent="-342900" marL="342900">
              <a:buAutoNum type="arabicPeriod"/>
            </a:pPr>
            <a:r>
              <a:rPr/>
              <a:t>Capture traffic</a:t>
            </a:r>
          </a:p>
          <a:p>
            <a:pPr lvl="0" indent="-342900" marL="342900">
              <a:buAutoNum type="arabicPeriod"/>
            </a:pPr>
            <a:r>
              <a:rPr/>
              <a:t>Inspect packets</a:t>
            </a:r>
          </a:p>
          <a:p>
            <a:pPr lvl="0" indent="0" marL="0">
              <a:buNone/>
            </a:pPr>
            <a:r>
              <a:rPr/>
              <a:t>Result:</a:t>
            </a:r>
          </a:p>
          <a:p>
            <a:pPr lvl="0" indent="0" marL="0">
              <a:buNone/>
            </a:pPr>
            <a:r>
              <a:rPr/>
              <a:t>✔ Passwords visible ✔ Tokens readable ✔ MITM successful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Demo: MITM With HTTPS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HTTPS Traffic Capture</a:t>
            </a:r>
          </a:p>
          <a:p>
            <a:pPr lvl="0" indent="-342900" marL="342900">
              <a:buAutoNum type="arabicPeriod"/>
            </a:pPr>
            <a:r>
              <a:rPr/>
              <a:t>Enable SSL</a:t>
            </a:r>
          </a:p>
          <a:p>
            <a:pPr lvl="0" indent="-342900" marL="342900">
              <a:buAutoNum type="arabicPeriod"/>
            </a:pPr>
            <a:r>
              <a:rPr/>
              <a:t>Run app on HTTPS</a:t>
            </a:r>
          </a:p>
          <a:p>
            <a:pPr lvl="0" indent="-342900" marL="342900">
              <a:buAutoNum type="arabicPeriod"/>
            </a:pPr>
            <a:r>
              <a:rPr/>
              <a:t>Capture traffic</a:t>
            </a:r>
          </a:p>
          <a:p>
            <a:pPr lvl="0" indent="-342900" marL="342900">
              <a:buAutoNum type="arabicPeriod"/>
            </a:pPr>
            <a:r>
              <a:rPr/>
              <a:t>Inspect packets</a:t>
            </a:r>
          </a:p>
          <a:p>
            <a:pPr lvl="0" indent="0" marL="0">
              <a:buNone/>
            </a:pPr>
            <a:r>
              <a:rPr/>
              <a:t>Result:</a:t>
            </a:r>
          </a:p>
          <a:p>
            <a:pPr lvl="0" indent="0" marL="0">
              <a:buNone/>
            </a:pPr>
            <a:r>
              <a:rPr/>
              <a:t>❌ Data unreadable ❌ Encrypted content ✔ MITM prevented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Advanced: Proxy-Based MITM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Fake Certificate Attacks</a:t>
            </a:r>
          </a:p>
          <a:p>
            <a:pPr lvl="0" indent="0" marL="0">
              <a:buNone/>
            </a:pPr>
            <a:r>
              <a:rPr/>
              <a:t>Attackers may install fake certificates.</a:t>
            </a:r>
          </a:p>
          <a:p>
            <a:pPr lvl="0" indent="0" marL="0">
              <a:buNone/>
            </a:pPr>
            <a:r>
              <a:rPr/>
              <a:t>Then:</a:t>
            </a:r>
          </a:p>
          <a:p>
            <a:pPr lvl="0" indent="0">
              <a:buNone/>
            </a:pPr>
            <a:r>
              <a:rPr b="1">
                <a:solidFill>
                  <a:srgbClr val="FF0000"/>
                </a:solidFill>
                <a:latin typeface="Courier"/>
              </a:rPr>
              <a:t>Client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Proxy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→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FF0000"/>
                </a:solidFill>
                <a:latin typeface="Courier"/>
              </a:rPr>
              <a:t>Server</a:t>
            </a:r>
          </a:p>
          <a:p>
            <a:pPr lvl="0" indent="0" marL="0">
              <a:buNone/>
            </a:pPr>
            <a:r>
              <a:rPr/>
              <a:t>Proxy decrypts traffic.</a:t>
            </a:r>
          </a:p>
          <a:p>
            <a:pPr lvl="0" indent="0" marL="0">
              <a:buNone/>
            </a:pPr>
            <a:r>
              <a:rPr/>
              <a:t>Lesson:</a:t>
            </a:r>
          </a:p>
          <a:p>
            <a:pPr lvl="0" indent="0" marL="1270000">
              <a:buNone/>
            </a:pPr>
            <a:r>
              <a:rPr sz="2000"/>
              <a:t>TLS works only when trust is protected.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TLS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Latency Tradeoffs</a:t>
            </a:r>
          </a:p>
          <a:p>
            <a:pPr lvl="0" indent="0" marL="0">
              <a:buNone/>
            </a:pPr>
            <a:r>
              <a:rPr/>
              <a:t>TLS adds:</a:t>
            </a:r>
          </a:p>
          <a:p>
            <a:pPr lvl="0"/>
            <a:r>
              <a:rPr/>
              <a:t>Handshake delay</a:t>
            </a:r>
          </a:p>
          <a:p>
            <a:pPr lvl="0"/>
            <a:r>
              <a:rPr/>
              <a:t>CPU encryption cost</a:t>
            </a:r>
          </a:p>
          <a:p>
            <a:pPr lvl="0" indent="0" marL="0">
              <a:buNone/>
            </a:pPr>
            <a:r>
              <a:rPr/>
              <a:t>Modern TLS:</a:t>
            </a:r>
          </a:p>
          <a:p>
            <a:pPr lvl="0"/>
            <a:r>
              <a:rPr/>
              <a:t>TLS 1.3</a:t>
            </a:r>
          </a:p>
          <a:p>
            <a:pPr lvl="0"/>
            <a:r>
              <a:rPr/>
              <a:t>Session reuse</a:t>
            </a:r>
          </a:p>
          <a:p>
            <a:pPr lvl="0"/>
            <a:r>
              <a:rPr/>
              <a:t>Hardware acceleration</a:t>
            </a:r>
          </a:p>
          <a:p>
            <a:pPr lvl="0" indent="0" marL="0">
              <a:buNone/>
            </a:pPr>
            <a:r>
              <a:rPr/>
              <a:t>Performance impact is minimal today.</a:t>
            </a:r>
          </a:p>
          <a:p>
            <a:pPr lvl="0" indent="0" marL="0">
              <a:buNone/>
            </a:pPr>
            <a:r>
              <a:rPr/>
              <a:t>Never sacrifice security for speed.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 vs HTTPS Comparison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HTTPS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Encryption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MITM Protection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❌ 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✅ 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HTTPS is mandatory in modern systems.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Recommended Practices</a:t>
            </a:r>
          </a:p>
          <a:p>
            <a:pPr lvl="0"/>
            <a:r>
              <a:rPr/>
              <a:t>Use TLS 1.2 / 1.3 only</a:t>
            </a:r>
          </a:p>
          <a:p>
            <a:pPr lvl="0"/>
            <a:r>
              <a:rPr/>
              <a:t>Automate certificate renewal</a:t>
            </a:r>
          </a:p>
          <a:p>
            <a:pPr lvl="0"/>
            <a:r>
              <a:rPr/>
              <a:t>Enable HSTS</a:t>
            </a:r>
          </a:p>
          <a:p>
            <a:pPr lvl="0"/>
            <a:r>
              <a:rPr/>
              <a:t>Enforce HTTPS redirects</a:t>
            </a:r>
          </a:p>
          <a:p>
            <a:pPr lvl="0"/>
            <a:r>
              <a:rPr/>
              <a:t>Secure cookies</a:t>
            </a:r>
          </a:p>
          <a:p>
            <a:pPr lvl="0"/>
            <a:r>
              <a:rPr/>
              <a:t>Monitor certificate expiry</a:t>
            </a:r>
          </a:p>
          <a:p>
            <a:pPr lvl="0"/>
            <a:r>
              <a:rPr/>
              <a:t>Terminate TLS at edge in production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You Must Remember</a:t>
            </a:r>
          </a:p>
          <a:p>
            <a:pPr lvl="0"/>
            <a:r>
              <a:rPr/>
              <a:t>HTTPS = HTTP + TLS</a:t>
            </a:r>
          </a:p>
          <a:p>
            <a:pPr lvl="0"/>
            <a:r>
              <a:rPr/>
              <a:t>Certificates create trust</a:t>
            </a:r>
          </a:p>
          <a:p>
            <a:pPr lvl="0"/>
            <a:r>
              <a:rPr/>
              <a:t>TLS prevents MITM</a:t>
            </a:r>
          </a:p>
          <a:p>
            <a:pPr lvl="0"/>
            <a:r>
              <a:rPr/>
              <a:t>Production uses edge termination</a:t>
            </a:r>
          </a:p>
          <a:p>
            <a:pPr lvl="0"/>
            <a:r>
              <a:rPr/>
              <a:t>Learning uses direct TLS</a:t>
            </a:r>
          </a:p>
          <a:p>
            <a:pPr lvl="0"/>
            <a:r>
              <a:rPr/>
              <a:t>Security is layered</a:t>
            </a:r>
          </a:p>
          <a:p>
            <a:pPr lvl="0" indent="0" marL="1270000">
              <a:buNone/>
            </a:pPr>
            <a:r>
              <a:rPr sz="2000"/>
              <a:t>HTTPS is not optional.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Lesson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Coming Up Next</a:t>
            </a:r>
          </a:p>
          <a:p>
            <a:pPr lvl="0"/>
            <a:r>
              <a:rPr/>
              <a:t>Practical Demo of MITM with Wireshark</a:t>
            </a:r>
          </a:p>
          <a:p>
            <a:pPr lvl="0" indent="0" marL="0">
              <a:buNone/>
            </a:pPr>
            <a:r>
              <a:rPr/>
              <a:t>Prepare for infrastructure-level defense.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Transport &amp; Network Security: HTTPS &amp; TLS</dc:title>
  <dc:creator>Ngane Emmanuel</dc:creator>
  <cp:keywords/>
  <dcterms:created xsi:type="dcterms:W3CDTF">2026-02-17T16:14:09Z</dcterms:created>
  <dcterms:modified xsi:type="dcterms:W3CDTF">2026-02-17T16:14:09Z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2026-02-17</vt:lpwstr>
  </property>
  <property fmtid="{D5CDD505-2E9C-101B-9397-08002B2CF9AE}" pid="3" name="output">
    <vt:lpwstr/>
  </property>
  <property fmtid="{D5CDD505-2E9C-101B-9397-08002B2CF9AE}" pid="4" name="subtitle">
    <vt:lpwstr>Building Secure, Scalable, Fault-Tolerant and Low-Latency APIs with Java &amp; Spring Boot</vt:lpwstr>
  </property>
</Properties>
</file>