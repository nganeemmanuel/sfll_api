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91E361-78C7-46DC-AB80-22862B2AFDC2}" v="371" dt="2026-01-15T15:10:47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AF372-DA13-4DF1-98A9-5D129C00A2A7}" type="datetimeFigureOut"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63840-1112-4E85-8AFB-E6A1F165BA5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61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78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18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19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51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33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24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77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46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9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59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37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55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63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25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63840-1112-4E85-8AFB-E6A1F165BA58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1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40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18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3556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97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60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40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5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14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24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44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929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643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734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989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528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872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49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47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675198"/>
            <a:ext cx="6619244" cy="1120095"/>
          </a:xfrm>
        </p:spPr>
        <p:txBody>
          <a:bodyPr/>
          <a:lstStyle/>
          <a:p>
            <a:pPr marL="0" lvl="0" indent="0">
              <a:buNone/>
            </a:pPr>
            <a:r>
              <a:rPr sz="5400" dirty="0"/>
              <a:t>Introduction to APIs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119657"/>
            <a:ext cx="6619244" cy="646065"/>
          </a:xfrm>
        </p:spPr>
        <p:txBody>
          <a:bodyPr/>
          <a:lstStyle/>
          <a:p>
            <a:pPr marL="0" lvl="0" indent="0">
              <a:buNone/>
            </a:pPr>
            <a:r>
              <a:t>Building Secure, Scalable, Fault-Tolerant and Low-Latency APIs with Java &amp; Spring Boot</a:t>
            </a:r>
            <a:br/>
            <a:br/>
            <a:r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397418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dirty="0">
                <a:solidFill>
                  <a:schemeClr val="bg1"/>
                </a:solidFill>
              </a:rPr>
              <a:t>Series Context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What This Series Is About</a:t>
            </a:r>
            <a:endParaRPr lang="en-US" b="1"/>
          </a:p>
          <a:p>
            <a:pPr lvl="0"/>
            <a:r>
              <a:rPr dirty="0"/>
              <a:t>Building </a:t>
            </a:r>
            <a:r>
              <a:rPr b="1" dirty="0"/>
              <a:t>production-grade APIs</a:t>
            </a:r>
            <a:r>
              <a:rPr dirty="0"/>
              <a:t>, not toy examples.</a:t>
            </a:r>
          </a:p>
          <a:p>
            <a:pPr lvl="0"/>
            <a:r>
              <a:rPr dirty="0"/>
              <a:t>Focus areas:</a:t>
            </a:r>
          </a:p>
          <a:p>
            <a:pPr lvl="1"/>
            <a:r>
              <a:rPr sz="1800" dirty="0"/>
              <a:t>Security</a:t>
            </a:r>
          </a:p>
          <a:p>
            <a:pPr lvl="1"/>
            <a:r>
              <a:rPr sz="1800" dirty="0"/>
              <a:t>Scalability</a:t>
            </a:r>
          </a:p>
          <a:p>
            <a:pPr lvl="1"/>
            <a:r>
              <a:rPr sz="1800" dirty="0"/>
              <a:t>Fault Tolerance</a:t>
            </a:r>
          </a:p>
          <a:p>
            <a:pPr lvl="1"/>
            <a:r>
              <a:rPr sz="1800" dirty="0"/>
              <a:t>Low Latency</a:t>
            </a:r>
            <a:endParaRPr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E43AF-2AB5-BB61-4BA6-EC1544140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5042-84EC-B734-50D8-988FB040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7420587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dirty="0">
                <a:solidFill>
                  <a:schemeClr val="bg1"/>
                </a:solidFill>
              </a:rPr>
              <a:t>Series Context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9C1AB-582D-2D4D-C777-63B6DDC98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What This Series Is About</a:t>
            </a:r>
            <a:endParaRPr lang="en-US" b="1"/>
          </a:p>
          <a:p>
            <a:pPr lvl="0"/>
            <a:r>
              <a:rPr dirty="0"/>
              <a:t>Every topic will be covered:</a:t>
            </a:r>
          </a:p>
          <a:p>
            <a:pPr lvl="1"/>
            <a:r>
              <a:rPr sz="1800" b="1" dirty="0"/>
              <a:t>Theory first</a:t>
            </a:r>
          </a:p>
          <a:p>
            <a:pPr lvl="1"/>
            <a:r>
              <a:rPr sz="1800" b="1" dirty="0"/>
              <a:t>Practical implementation next</a:t>
            </a:r>
          </a:p>
          <a:p>
            <a:pPr lvl="1"/>
            <a:r>
              <a:rPr sz="1800" b="1" dirty="0"/>
              <a:t>Real vulnerabilities and fixes</a:t>
            </a:r>
          </a:p>
        </p:txBody>
      </p:sp>
    </p:spTree>
    <p:extLst>
      <p:ext uri="{BB962C8B-B14F-4D97-AF65-F5344CB8AC3E}">
        <p14:creationId xmlns:p14="http://schemas.microsoft.com/office/powerpoint/2010/main" val="401868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9483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400" b="1" dirty="0"/>
              <a:t>How This Course Is Structured</a:t>
            </a:r>
            <a:endParaRPr lang="en-US" sz="1400" b="1" dirty="0"/>
          </a:p>
          <a:p>
            <a:pPr marL="342900" lvl="0" indent="-342900">
              <a:buAutoNum type="arabicPeriod"/>
            </a:pPr>
            <a:r>
              <a:rPr sz="1400" dirty="0"/>
              <a:t>API Fundamentals</a:t>
            </a:r>
          </a:p>
          <a:p>
            <a:pPr marL="342900" lvl="0" indent="-342900">
              <a:buAutoNum type="arabicPeriod"/>
            </a:pPr>
            <a:r>
              <a:rPr sz="1400" dirty="0"/>
              <a:t>Designing a Basic API</a:t>
            </a:r>
          </a:p>
          <a:p>
            <a:pPr marL="342900" lvl="0" indent="-342900">
              <a:buAutoNum type="arabicPeriod"/>
            </a:pPr>
            <a:r>
              <a:rPr sz="1400" dirty="0"/>
              <a:t>Securing APIs</a:t>
            </a:r>
          </a:p>
          <a:p>
            <a:pPr marL="342900" lvl="0" indent="-342900">
              <a:buAutoNum type="arabicPeriod"/>
            </a:pPr>
            <a:r>
              <a:rPr sz="1400" dirty="0"/>
              <a:t>Fault Tolerance &amp; Resilience</a:t>
            </a:r>
          </a:p>
          <a:p>
            <a:pPr marL="342900" lvl="0" indent="-342900">
              <a:buAutoNum type="arabicPeriod"/>
            </a:pPr>
            <a:r>
              <a:rPr sz="1400" dirty="0"/>
              <a:t>Performance &amp; Low Latency</a:t>
            </a:r>
          </a:p>
          <a:p>
            <a:pPr marL="342900" lvl="0" indent="-342900">
              <a:buAutoNum type="arabicPeriod"/>
            </a:pPr>
            <a:r>
              <a:rPr sz="1400" dirty="0"/>
              <a:t>Production Best Practices</a:t>
            </a:r>
          </a:p>
          <a:p>
            <a:pPr marL="0" lvl="0" indent="0">
              <a:buNone/>
            </a:pPr>
            <a:r>
              <a:rPr sz="1400" dirty="0"/>
              <a:t>Each section: - Concept explanation - Architecture discussion - Hands-on coding - Common mistakes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9E5D4-46D2-6A25-F9A0-488C21C1E648}"/>
              </a:ext>
            </a:extLst>
          </p:cNvPr>
          <p:cNvSpPr txBox="1"/>
          <p:nvPr/>
        </p:nvSpPr>
        <p:spPr>
          <a:xfrm>
            <a:off x="1892128" y="718236"/>
            <a:ext cx="53597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EBEBEB"/>
                </a:solidFill>
                <a:latin typeface="Century Gothic"/>
              </a:rPr>
              <a:t>Course Structure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351080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dirty="0">
                <a:solidFill>
                  <a:schemeClr val="bg1"/>
                </a:solidFill>
              </a:rPr>
              <a:t>Learning Objectives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By the end of this lesson, you should be able to:</a:t>
            </a:r>
          </a:p>
          <a:p>
            <a:pPr lvl="0"/>
            <a:r>
              <a:rPr dirty="0"/>
              <a:t>Understand what an API really is.</a:t>
            </a:r>
          </a:p>
          <a:p>
            <a:pPr lvl="0"/>
            <a:r>
              <a:rPr dirty="0"/>
              <a:t>Explain why APIs exist and what problems they solve.</a:t>
            </a:r>
          </a:p>
          <a:p>
            <a:pPr lvl="0"/>
            <a:r>
              <a:rPr dirty="0"/>
              <a:t>Identify real-world use cases of APIs.</a:t>
            </a:r>
          </a:p>
          <a:p>
            <a:pPr lvl="0"/>
            <a:r>
              <a:rPr dirty="0"/>
              <a:t>Avoid common misconceptions about APIs.</a:t>
            </a:r>
          </a:p>
          <a:p>
            <a:pPr lvl="0"/>
            <a:r>
              <a:rPr dirty="0"/>
              <a:t>Build a strong mental model for future lessons.</a:t>
            </a:r>
          </a:p>
          <a:p>
            <a:r>
              <a:rPr lang="en-US" sz="1700" dirty="0"/>
              <a:t>Understand how to build production ready APIs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327911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dirty="0">
                <a:solidFill>
                  <a:schemeClr val="bg1"/>
                </a:solidFill>
              </a:rPr>
              <a:t>What Is an API?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Simple Definition</a:t>
            </a:r>
          </a:p>
          <a:p>
            <a:pPr marL="0" lvl="0" indent="0">
              <a:buNone/>
            </a:pPr>
            <a:r>
              <a:rPr b="1"/>
              <a:t>API</a:t>
            </a:r>
            <a:r>
              <a:t> stands for </a:t>
            </a:r>
            <a:r>
              <a:rPr b="1"/>
              <a:t>Application Programming Interface</a:t>
            </a:r>
            <a:r>
              <a:t>.</a:t>
            </a:r>
          </a:p>
          <a:p>
            <a:pPr marL="0" lvl="0" indent="0">
              <a:buNone/>
            </a:pPr>
            <a:r>
              <a:t>An API is a way for </a:t>
            </a:r>
            <a:r>
              <a:rPr b="1"/>
              <a:t>software systems to communicate with each other</a:t>
            </a:r>
            <a:r>
              <a:t> in a structured and predictable way.</a:t>
            </a:r>
          </a:p>
          <a:p>
            <a:pPr marL="0" indent="0">
              <a:buNone/>
            </a:pPr>
            <a:r>
              <a:rPr dirty="0"/>
              <a:t>Think of it as a </a:t>
            </a:r>
            <a:r>
              <a:rPr b="1" dirty="0"/>
              <a:t>contract</a:t>
            </a:r>
            <a:r>
              <a:rPr dirty="0"/>
              <a:t> between two systems: </a:t>
            </a:r>
            <a:endParaRPr lang="en-US" dirty="0"/>
          </a:p>
          <a:p>
            <a:pPr marL="0" indent="0">
              <a:buNone/>
            </a:pPr>
            <a:r>
              <a:rPr lang="en-US"/>
              <a:t> </a:t>
            </a:r>
            <a:r>
              <a:t>- One </a:t>
            </a:r>
            <a:r>
              <a:rPr dirty="0"/>
              <a:t>system provides data or functionality. </a:t>
            </a:r>
            <a:endParaRPr lang="en-US" dirty="0"/>
          </a:p>
          <a:p>
            <a:pPr marL="0" indent="0">
              <a:buNone/>
            </a:pPr>
            <a:r>
              <a:t>- Another </a:t>
            </a:r>
            <a:r>
              <a:rPr dirty="0"/>
              <a:t>system consumes it.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dirty="0"/>
              <a:t>Imagine a restaurant:</a:t>
            </a:r>
            <a:endParaRPr lang="en-US" b="1" dirty="0"/>
          </a:p>
          <a:p>
            <a:pPr lvl="0"/>
            <a:r>
              <a:rPr dirty="0"/>
              <a:t>You (client) → place an order.</a:t>
            </a:r>
          </a:p>
          <a:p>
            <a:pPr lvl="0"/>
            <a:r>
              <a:rPr dirty="0"/>
              <a:t>Waiter (API) → takes your request.</a:t>
            </a:r>
          </a:p>
          <a:p>
            <a:pPr lvl="0"/>
            <a:r>
              <a:rPr dirty="0"/>
              <a:t>Kitchen (server/business logic) → prepares the food.</a:t>
            </a:r>
          </a:p>
          <a:p>
            <a:pPr lvl="0"/>
            <a:r>
              <a:rPr dirty="0"/>
              <a:t>Waiter → brings back the result.</a:t>
            </a:r>
          </a:p>
          <a:p>
            <a:pPr marL="0" lvl="0" indent="0">
              <a:buNone/>
            </a:pPr>
            <a:r>
              <a:rPr dirty="0"/>
              <a:t>You don’t go into the kitchen yourself. You interact only through the waiter (API).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8EAABA-5944-A49A-2558-E57A87848F34}"/>
              </a:ext>
            </a:extLst>
          </p:cNvPr>
          <p:cNvSpPr txBox="1"/>
          <p:nvPr/>
        </p:nvSpPr>
        <p:spPr>
          <a:xfrm>
            <a:off x="2286000" y="803189"/>
            <a:ext cx="4572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Everyday Analogy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An</a:t>
            </a:r>
            <a:r>
              <a:rPr dirty="0"/>
              <a:t> API defines:</a:t>
            </a:r>
            <a:endParaRPr lang="en-US" dirty="0"/>
          </a:p>
          <a:p>
            <a:pPr lvl="0"/>
            <a:r>
              <a:rPr dirty="0"/>
              <a:t>What requests are allowed.</a:t>
            </a:r>
          </a:p>
          <a:p>
            <a:pPr lvl="0"/>
            <a:r>
              <a:rPr dirty="0"/>
              <a:t>What data format is expected.</a:t>
            </a:r>
          </a:p>
          <a:p>
            <a:pPr lvl="0"/>
            <a:r>
              <a:rPr dirty="0"/>
              <a:t>What responses will be returned.</a:t>
            </a:r>
          </a:p>
          <a:p>
            <a:pPr lvl="0"/>
            <a:r>
              <a:rPr dirty="0"/>
              <a:t>What errors may occur.</a:t>
            </a:r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 web systems, APIs commonly use: - HTTP - JSON or XML - Standard methods like GET, POST, PUT, DELETE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DB1BF-773E-CDA9-BD1E-CD9049B91BB2}"/>
              </a:ext>
            </a:extLst>
          </p:cNvPr>
          <p:cNvSpPr txBox="1"/>
          <p:nvPr/>
        </p:nvSpPr>
        <p:spPr>
          <a:xfrm>
            <a:off x="1953912" y="617838"/>
            <a:ext cx="5398358" cy="6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Technical Definition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an API Is NOT</a:t>
            </a:r>
          </a:p>
          <a:p>
            <a:pPr lvl="0"/>
            <a:r>
              <a:t>❌ Not just a database.</a:t>
            </a:r>
          </a:p>
          <a:p>
            <a:pPr lvl="0"/>
            <a:r>
              <a:t>❌ Not just a website.</a:t>
            </a:r>
          </a:p>
          <a:p>
            <a:pPr lvl="0"/>
            <a:r>
              <a:t>❌ Not just a single endpoint.</a:t>
            </a:r>
          </a:p>
          <a:p>
            <a:pPr lvl="0"/>
            <a:r>
              <a:t>❌ Not only backend code.</a:t>
            </a:r>
          </a:p>
          <a:p>
            <a:pPr marL="0" lvl="0" indent="0">
              <a:buNone/>
            </a:pPr>
            <a:r>
              <a:t>An API is a </a:t>
            </a:r>
            <a:r>
              <a:rPr b="1"/>
              <a:t>communication layer and contract</a:t>
            </a:r>
            <a:r>
              <a:t> between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764176-FC03-9DA3-2932-E9059DF72CC7}"/>
              </a:ext>
            </a:extLst>
          </p:cNvPr>
          <p:cNvSpPr txBox="1"/>
          <p:nvPr/>
        </p:nvSpPr>
        <p:spPr>
          <a:xfrm>
            <a:off x="641007" y="633284"/>
            <a:ext cx="79546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Century Gothic"/>
              </a:rPr>
              <a:t>What an API is NOT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320188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dirty="0">
                <a:solidFill>
                  <a:schemeClr val="bg1"/>
                </a:solidFill>
              </a:rPr>
              <a:t>Why Do APIs Exist?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The Core Problem</a:t>
            </a:r>
          </a:p>
          <a:p>
            <a:pPr marL="0" lvl="0" indent="0">
              <a:buNone/>
            </a:pPr>
            <a:r>
              <a:rPr dirty="0"/>
              <a:t>Modern software is not a single application anymore.</a:t>
            </a:r>
          </a:p>
          <a:p>
            <a:pPr marL="0" indent="0">
              <a:buNone/>
            </a:pPr>
            <a:r>
              <a:rPr dirty="0"/>
              <a:t>We have: </a:t>
            </a:r>
            <a:endParaRPr lang="en-US" dirty="0"/>
          </a:p>
          <a:p>
            <a:pPr marL="0" indent="0">
              <a:buNone/>
            </a:pPr>
            <a:r>
              <a:rPr dirty="0"/>
              <a:t>- Mobile apps </a:t>
            </a:r>
            <a:endParaRPr lang="en-US" dirty="0"/>
          </a:p>
          <a:p>
            <a:pPr marL="0" indent="0">
              <a:buNone/>
            </a:pPr>
            <a:r>
              <a:rPr dirty="0"/>
              <a:t>- Web apps </a:t>
            </a:r>
            <a:endParaRPr lang="en-US"/>
          </a:p>
          <a:p>
            <a:pPr marL="0" indent="0">
              <a:buNone/>
            </a:pPr>
            <a:r>
              <a:rPr dirty="0"/>
              <a:t>- Microservices </a:t>
            </a:r>
            <a:endParaRPr lang="en-US" dirty="0"/>
          </a:p>
          <a:p>
            <a:pPr marL="0" lvl="0" indent="0">
              <a:buNone/>
            </a:pPr>
            <a:r>
              <a:rPr dirty="0"/>
              <a:t>- Third-party integrations - Cloud services</a:t>
            </a:r>
          </a:p>
          <a:p>
            <a:pPr marL="0" lvl="0" indent="0">
              <a:buNone/>
            </a:pPr>
            <a:r>
              <a:rPr dirty="0"/>
              <a:t>All these systems must talk to each other reliably.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dirty="0"/>
              <a:t>Without APIs:</a:t>
            </a:r>
            <a:endParaRPr lang="en-US" dirty="0"/>
          </a:p>
          <a:p>
            <a:pPr lvl="0"/>
            <a:r>
              <a:rPr dirty="0"/>
              <a:t>Systems would be tightly coupled.</a:t>
            </a:r>
          </a:p>
          <a:p>
            <a:pPr lvl="0"/>
            <a:r>
              <a:rPr dirty="0"/>
              <a:t>Every change breaks multiple applications.</a:t>
            </a:r>
          </a:p>
          <a:p>
            <a:pPr lvl="0"/>
            <a:r>
              <a:rPr dirty="0"/>
              <a:t>No standard way to communicate.</a:t>
            </a:r>
          </a:p>
          <a:p>
            <a:pPr lvl="0"/>
            <a:r>
              <a:rPr dirty="0"/>
              <a:t>Hard to scale or secure.</a:t>
            </a:r>
          </a:p>
          <a:p>
            <a:pPr lvl="0"/>
            <a:r>
              <a:rPr dirty="0"/>
              <a:t>Integration becomes fragile and slow.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63A302-F5CC-8C73-06EF-0128E2771F09}"/>
              </a:ext>
            </a:extLst>
          </p:cNvPr>
          <p:cNvSpPr txBox="1"/>
          <p:nvPr/>
        </p:nvSpPr>
        <p:spPr>
          <a:xfrm>
            <a:off x="486548" y="617838"/>
            <a:ext cx="82404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Century Gothic"/>
              </a:rPr>
              <a:t>Without APIs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APIs provide:</a:t>
            </a:r>
            <a:endParaRPr lang="en-US" dirty="0"/>
          </a:p>
          <a:p>
            <a:pPr lvl="0"/>
            <a:r>
              <a:rPr dirty="0"/>
              <a:t>Clear communication contracts</a:t>
            </a:r>
          </a:p>
          <a:p>
            <a:pPr lvl="0"/>
            <a:r>
              <a:rPr dirty="0"/>
              <a:t>Loose coupling between systems</a:t>
            </a:r>
          </a:p>
          <a:p>
            <a:pPr lvl="0"/>
            <a:r>
              <a:rPr dirty="0"/>
              <a:t>Reusability of services</a:t>
            </a:r>
          </a:p>
          <a:p>
            <a:pPr lvl="0"/>
            <a:r>
              <a:rPr dirty="0"/>
              <a:t>Scalability</a:t>
            </a:r>
          </a:p>
          <a:p>
            <a:pPr lvl="0"/>
            <a:r>
              <a:rPr dirty="0"/>
              <a:t>Security boundaries</a:t>
            </a:r>
          </a:p>
          <a:p>
            <a:pPr lvl="0"/>
            <a:r>
              <a:rPr dirty="0"/>
              <a:t>Technology independence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A64B6E-7F93-70DD-A7D9-6EA17A3E11B9}"/>
              </a:ext>
            </a:extLst>
          </p:cNvPr>
          <p:cNvSpPr txBox="1"/>
          <p:nvPr/>
        </p:nvSpPr>
        <p:spPr>
          <a:xfrm>
            <a:off x="733682" y="625561"/>
            <a:ext cx="7429499" cy="6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Century Gothic"/>
              </a:rPr>
              <a:t>With APIs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dirty="0"/>
              <a:t>A mobile app fetching user data from a backend.</a:t>
            </a:r>
            <a:endParaRPr lang="en-US" dirty="0"/>
          </a:p>
          <a:p>
            <a:pPr lvl="0"/>
            <a:r>
              <a:rPr dirty="0"/>
              <a:t>A payment service charging a credit card.</a:t>
            </a:r>
          </a:p>
          <a:p>
            <a:pPr lvl="0"/>
            <a:r>
              <a:rPr dirty="0"/>
              <a:t>A weather app pulling forecast data.</a:t>
            </a:r>
          </a:p>
          <a:p>
            <a:pPr lvl="0"/>
            <a:r>
              <a:rPr dirty="0"/>
              <a:t>A frontend dashboard displaying analytics from a backend service.</a:t>
            </a:r>
          </a:p>
          <a:p>
            <a:pPr marL="0" lvl="0" indent="0">
              <a:buNone/>
            </a:pPr>
            <a:r>
              <a:rPr dirty="0"/>
              <a:t>All these rely on APIs.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23F00-B6F1-CD1E-1674-850AE0815E1D}"/>
              </a:ext>
            </a:extLst>
          </p:cNvPr>
          <p:cNvSpPr txBox="1"/>
          <p:nvPr/>
        </p:nvSpPr>
        <p:spPr>
          <a:xfrm>
            <a:off x="980818" y="617838"/>
            <a:ext cx="70047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Century Gothic"/>
              </a:rPr>
              <a:t>Real-World Examples</a:t>
            </a:r>
            <a:endParaRPr lang="en-US" sz="36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dirty="0"/>
              <a:t>Example</a:t>
            </a:r>
            <a:r>
              <a:rPr dirty="0"/>
              <a:t> API call:</a:t>
            </a:r>
            <a:endParaRPr lang="en-US" dirty="0"/>
          </a:p>
          <a:p>
            <a:pPr lvl="0" indent="0">
              <a:buNone/>
            </a:pPr>
            <a:r>
              <a:rPr dirty="0">
                <a:latin typeface="Courier"/>
              </a:rPr>
              <a:t>GET /</a:t>
            </a:r>
            <a:r>
              <a:rPr dirty="0" err="1">
                <a:latin typeface="Courier"/>
              </a:rPr>
              <a:t>api</a:t>
            </a:r>
            <a:r>
              <a:rPr dirty="0">
                <a:latin typeface="Courier"/>
              </a:rPr>
              <a:t>/users/123</a:t>
            </a:r>
          </a:p>
          <a:p>
            <a:pPr marL="0" lvl="0" indent="0">
              <a:buNone/>
            </a:pPr>
            <a:r>
              <a:rPr dirty="0"/>
              <a:t>Response:</a:t>
            </a:r>
          </a:p>
          <a:p>
            <a:pPr lvl="0" indent="0">
              <a:buNone/>
            </a:pPr>
            <a:r>
              <a:rPr dirty="0">
                <a:solidFill>
                  <a:srgbClr val="06287E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"id"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123</a:t>
            </a:r>
            <a:r>
              <a:rPr dirty="0">
                <a:solidFill>
                  <a:srgbClr val="06287E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"name"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"Alice"</a:t>
            </a:r>
            <a:r>
              <a:rPr dirty="0">
                <a:solidFill>
                  <a:srgbClr val="06287E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"email"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"alice@example.com"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dirty="0"/>
              <a:t>Your application doesn’t care how the data was fetched internally. It only cares about the contract.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413EAE-D6A2-5435-356C-4CAB428A5505}"/>
              </a:ext>
            </a:extLst>
          </p:cNvPr>
          <p:cNvSpPr txBox="1"/>
          <p:nvPr/>
        </p:nvSpPr>
        <p:spPr>
          <a:xfrm>
            <a:off x="2069757" y="625561"/>
            <a:ext cx="4942702" cy="6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Century Gothic"/>
              </a:rPr>
              <a:t>EXAMPLE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482370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dirty="0">
                <a:solidFill>
                  <a:schemeClr val="bg1"/>
                </a:solidFill>
              </a:rPr>
              <a:t>Key Takeaways So Far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An API enables communication between software systems.</a:t>
            </a:r>
          </a:p>
          <a:p>
            <a:pPr lvl="0"/>
            <a:r>
              <a:t>It defines rules, data formats, and behavior.</a:t>
            </a:r>
          </a:p>
          <a:p>
            <a:pPr lvl="0"/>
            <a:r>
              <a:t>APIs solve coupling, scalability, and integration problems.</a:t>
            </a:r>
          </a:p>
          <a:p>
            <a:pPr lvl="0"/>
            <a:r>
              <a:t>APIs act as a contract between producers and consumers.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7204343" cy="553391"/>
          </a:xfrm>
        </p:spPr>
        <p:txBody>
          <a:bodyPr/>
          <a:lstStyle/>
          <a:p>
            <a:pPr marL="0" lvl="0" indent="0" algn="ctr">
              <a:buNone/>
            </a:pPr>
            <a:r>
              <a:rPr dirty="0">
                <a:solidFill>
                  <a:schemeClr val="bg1"/>
                </a:solidFill>
              </a:rPr>
              <a:t>Next Section Preview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dirty="0"/>
              <a:t>In the next section we will cover:</a:t>
            </a:r>
          </a:p>
          <a:p>
            <a:pPr lvl="0"/>
            <a:r>
              <a:rPr dirty="0"/>
              <a:t>Types of APIs</a:t>
            </a:r>
          </a:p>
          <a:p>
            <a:pPr lvl="0"/>
            <a:r>
              <a:rPr dirty="0"/>
              <a:t>Why different API styles exist</a:t>
            </a:r>
          </a:p>
          <a:p>
            <a:pPr lvl="0"/>
            <a:r>
              <a:rPr dirty="0"/>
              <a:t>When to use each type</a:t>
            </a:r>
          </a:p>
          <a:p>
            <a:pPr lvl="0"/>
            <a:r>
              <a:rPr dirty="0"/>
              <a:t>Common misconceptions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Ion Boardroom</vt:lpstr>
      <vt:lpstr>Introduction to APIs</vt:lpstr>
      <vt:lpstr>Series Context</vt:lpstr>
      <vt:lpstr>Series Context</vt:lpstr>
      <vt:lpstr>PowerPoint Presentation</vt:lpstr>
      <vt:lpstr>Learning Objectives</vt:lpstr>
      <vt:lpstr>What Is an API?</vt:lpstr>
      <vt:lpstr>PowerPoint Presentation</vt:lpstr>
      <vt:lpstr>PowerPoint Presentation</vt:lpstr>
      <vt:lpstr>PowerPoint Presentation</vt:lpstr>
      <vt:lpstr>Why Do APIs Exist?</vt:lpstr>
      <vt:lpstr>PowerPoint Presentation</vt:lpstr>
      <vt:lpstr>PowerPoint Presentation</vt:lpstr>
      <vt:lpstr>PowerPoint Presentation</vt:lpstr>
      <vt:lpstr>PowerPoint Presentation</vt:lpstr>
      <vt:lpstr>Key Takeaways So Far</vt:lpstr>
      <vt:lpstr>Next Section Preview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APIs</dc:title>
  <dc:creator>Ngane Emmanuel</dc:creator>
  <cp:keywords/>
  <cp:revision>126</cp:revision>
  <dcterms:created xsi:type="dcterms:W3CDTF">2026-01-15T14:35:16Z</dcterms:created>
  <dcterms:modified xsi:type="dcterms:W3CDTF">2026-01-15T15:12:52Z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2026-01-15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