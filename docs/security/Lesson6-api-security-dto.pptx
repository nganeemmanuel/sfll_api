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30BFEA-3941-48BB-A977-5E615D845916}" v="119" dt="2026-01-19T10:40:37.8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574800"/>
            <a:ext cx="6619244" cy="2008236"/>
          </a:xfrm>
        </p:spPr>
        <p:txBody>
          <a:bodyPr anchor="b"/>
          <a:lstStyle>
            <a:lvl1pPr>
              <a:defRPr sz="9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256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384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512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640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768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6896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024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619239" y="1344169"/>
            <a:ext cx="742949" cy="2285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713982" y="2420874"/>
            <a:ext cx="2894846" cy="2286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4406" y="221797"/>
            <a:ext cx="628649" cy="57576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387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6" y="1952625"/>
            <a:ext cx="6619244" cy="25622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2330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008234"/>
            <a:ext cx="3263269" cy="1712868"/>
          </a:xfrm>
        </p:spPr>
        <p:txBody>
          <a:bodyPr anchor="ctr"/>
          <a:lstStyle>
            <a:lvl1pPr algn="l">
              <a:defRPr sz="7111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71670" y="2008233"/>
            <a:ext cx="2818159" cy="1712868"/>
          </a:xfrm>
        </p:spPr>
        <p:txBody>
          <a:bodyPr anchor="ctr"/>
          <a:lstStyle>
            <a:lvl1pPr marL="0" indent="0" algn="l">
              <a:buNone/>
              <a:defRPr sz="3556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719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15" y="1952625"/>
            <a:ext cx="3618869" cy="2562226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6535" y="1952625"/>
            <a:ext cx="3618869" cy="2562225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752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3618868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/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215" y="2384822"/>
            <a:ext cx="3618869" cy="2130029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56535" y="1952625"/>
            <a:ext cx="3618869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/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6535" y="2384822"/>
            <a:ext cx="3618869" cy="2130029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44"/>
            </a:lvl2pPr>
            <a:lvl3pPr>
              <a:defRPr sz="248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203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571060" cy="53022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929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177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1550"/>
            <a:ext cx="2094869" cy="1200150"/>
          </a:xfrm>
        </p:spPr>
        <p:txBody>
          <a:bodyPr anchor="b"/>
          <a:lstStyle>
            <a:lvl1pPr algn="l">
              <a:defRPr sz="4267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5859" y="1085850"/>
            <a:ext cx="3892550" cy="34290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5" y="2346961"/>
            <a:ext cx="2094869" cy="2171699"/>
          </a:xfrm>
        </p:spPr>
        <p:txBody>
          <a:bodyPr/>
          <a:lstStyle>
            <a:lvl1pPr marL="0" indent="0">
              <a:buNone/>
              <a:defRPr sz="2489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444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270000"/>
            <a:ext cx="2898851" cy="1301750"/>
          </a:xfrm>
        </p:spPr>
        <p:txBody>
          <a:bodyPr anchor="b">
            <a:normAutofit/>
          </a:bodyPr>
          <a:lstStyle>
            <a:lvl1pPr algn="l">
              <a:defRPr sz="6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10903" y="857250"/>
            <a:ext cx="2420395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844"/>
            </a:lvl2pPr>
            <a:lvl3pPr marL="1625620" indent="0">
              <a:buNone/>
              <a:defRPr sz="2844"/>
            </a:lvl3pPr>
            <a:lvl4pPr marL="2438430" indent="0">
              <a:buNone/>
              <a:defRPr sz="2844"/>
            </a:lvl4pPr>
            <a:lvl5pPr marL="3251241" indent="0">
              <a:buNone/>
              <a:defRPr sz="2844"/>
            </a:lvl5pPr>
            <a:lvl6pPr marL="4064051" indent="0">
              <a:buNone/>
              <a:defRPr sz="2844"/>
            </a:lvl6pPr>
            <a:lvl7pPr marL="4876861" indent="0">
              <a:buNone/>
              <a:defRPr sz="2844"/>
            </a:lvl7pPr>
            <a:lvl8pPr marL="5689671" indent="0">
              <a:buNone/>
              <a:defRPr sz="2844"/>
            </a:lvl8pPr>
            <a:lvl9pPr marL="6502481" indent="0">
              <a:buNone/>
              <a:defRPr sz="2844"/>
            </a:lvl9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6" y="2743200"/>
            <a:ext cx="2894409" cy="1028700"/>
          </a:xfrm>
        </p:spPr>
        <p:txBody>
          <a:bodyPr>
            <a:normAutofit/>
          </a:bodyPr>
          <a:lstStyle>
            <a:lvl1pPr marL="0" indent="0">
              <a:buNone/>
              <a:defRPr sz="2489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920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3727445"/>
            <a:ext cx="6619244" cy="425054"/>
          </a:xfrm>
        </p:spPr>
        <p:txBody>
          <a:bodyPr anchor="b">
            <a:normAutofit/>
          </a:bodyPr>
          <a:lstStyle>
            <a:lvl1pPr algn="l">
              <a:defRPr sz="4267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57175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844"/>
            </a:lvl2pPr>
            <a:lvl3pPr marL="1625620" indent="0">
              <a:buNone/>
              <a:defRPr sz="2844"/>
            </a:lvl3pPr>
            <a:lvl4pPr marL="2438430" indent="0">
              <a:buNone/>
              <a:defRPr sz="2844"/>
            </a:lvl4pPr>
            <a:lvl5pPr marL="3251241" indent="0">
              <a:buNone/>
              <a:defRPr sz="2844"/>
            </a:lvl5pPr>
            <a:lvl6pPr marL="4064051" indent="0">
              <a:buNone/>
              <a:defRPr sz="2844"/>
            </a:lvl6pPr>
            <a:lvl7pPr marL="4876861" indent="0">
              <a:buNone/>
              <a:defRPr sz="2844"/>
            </a:lvl7pPr>
            <a:lvl8pPr marL="5689671" indent="0">
              <a:buNone/>
              <a:defRPr sz="2844"/>
            </a:lvl8pPr>
            <a:lvl9pPr marL="6502481" indent="0">
              <a:buNone/>
              <a:defRPr sz="2844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5" y="4152499"/>
            <a:ext cx="6619244" cy="370284"/>
          </a:xfrm>
        </p:spPr>
        <p:txBody>
          <a:bodyPr>
            <a:normAutofit/>
          </a:bodyPr>
          <a:lstStyle>
            <a:lvl1pPr marL="0" indent="0">
              <a:buNone/>
              <a:defRPr sz="2133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617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598" y="797563"/>
            <a:ext cx="6623862" cy="1029740"/>
          </a:xfrm>
        </p:spPr>
        <p:txBody>
          <a:bodyPr/>
          <a:lstStyle>
            <a:lvl1pPr>
              <a:defRPr sz="711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657475"/>
            <a:ext cx="6619244" cy="1857375"/>
          </a:xfrm>
        </p:spPr>
        <p:txBody>
          <a:bodyPr anchor="ctr">
            <a:normAutofit/>
          </a:bodyPr>
          <a:lstStyle>
            <a:lvl1pPr marL="0" indent="0">
              <a:buNone/>
              <a:defRPr sz="3200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5370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661175" y="455502"/>
            <a:ext cx="601434" cy="2718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7067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7413344" y="1960340"/>
            <a:ext cx="489572" cy="2718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7067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6408" y="736600"/>
            <a:ext cx="6340430" cy="2022474"/>
          </a:xfrm>
        </p:spPr>
        <p:txBody>
          <a:bodyPr/>
          <a:lstStyle>
            <a:lvl1pPr>
              <a:defRPr sz="711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459459" y="2759074"/>
            <a:ext cx="5798414" cy="256631"/>
          </a:xfrm>
        </p:spPr>
        <p:txBody>
          <a:bodyPr anchor="t">
            <a:normAutofit/>
          </a:bodyPr>
          <a:lstStyle>
            <a:lvl1pPr marL="0" indent="0">
              <a:buNone/>
              <a:defRPr lang="en-US" sz="2489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771899"/>
            <a:ext cx="6933673" cy="748393"/>
          </a:xfrm>
        </p:spPr>
        <p:txBody>
          <a:bodyPr anchor="ctr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951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778000"/>
            <a:ext cx="6619245" cy="1366886"/>
          </a:xfrm>
        </p:spPr>
        <p:txBody>
          <a:bodyPr anchor="b"/>
          <a:lstStyle>
            <a:lvl1pPr algn="l">
              <a:defRPr sz="7111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768725"/>
            <a:ext cx="6619244" cy="645300"/>
          </a:xfrm>
        </p:spPr>
        <p:txBody>
          <a:bodyPr anchor="t"/>
          <a:lstStyle>
            <a:lvl1pPr marL="0" indent="0" algn="l">
              <a:buNone/>
              <a:defRPr sz="3556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9279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>
            <a:lvl1pPr>
              <a:defRPr sz="6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5" y="1952626"/>
            <a:ext cx="2356409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215" y="2384823"/>
            <a:ext cx="2356409" cy="2135470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4541" y="1952625"/>
            <a:ext cx="2360257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4541" y="2384823"/>
            <a:ext cx="2360257" cy="2135470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16101" y="1952626"/>
            <a:ext cx="2359298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16247" y="2384822"/>
            <a:ext cx="2359152" cy="2135470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302978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29301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36108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>
            <a:lvl1pPr>
              <a:defRPr sz="6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5" y="3399633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00915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844"/>
            </a:lvl2pPr>
            <a:lvl3pPr marL="1625620" indent="0">
              <a:buNone/>
              <a:defRPr sz="2844"/>
            </a:lvl3pPr>
            <a:lvl4pPr marL="2438430" indent="0">
              <a:buNone/>
              <a:defRPr sz="2844"/>
            </a:lvl4pPr>
            <a:lvl5pPr marL="3251241" indent="0">
              <a:buNone/>
              <a:defRPr sz="2844"/>
            </a:lvl5pPr>
            <a:lvl6pPr marL="4064051" indent="0">
              <a:buNone/>
              <a:defRPr sz="2844"/>
            </a:lvl6pPr>
            <a:lvl7pPr marL="4876861" indent="0">
              <a:buNone/>
              <a:defRPr sz="2844"/>
            </a:lvl7pPr>
            <a:lvl8pPr marL="5689671" indent="0">
              <a:buNone/>
              <a:defRPr sz="2844"/>
            </a:lvl8pPr>
            <a:lvl9pPr marL="6502481" indent="0">
              <a:buNone/>
              <a:defRPr sz="2844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215" y="3831830"/>
            <a:ext cx="2287829" cy="688464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6649" y="3399634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61347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844"/>
            </a:lvl2pPr>
            <a:lvl3pPr marL="1625620" indent="0">
              <a:buNone/>
              <a:defRPr sz="2844"/>
            </a:lvl3pPr>
            <a:lvl4pPr marL="2438430" indent="0">
              <a:buNone/>
              <a:defRPr sz="2844"/>
            </a:lvl4pPr>
            <a:lvl5pPr marL="3251241" indent="0">
              <a:buNone/>
              <a:defRPr sz="2844"/>
            </a:lvl5pPr>
            <a:lvl6pPr marL="4064051" indent="0">
              <a:buNone/>
              <a:defRPr sz="2844"/>
            </a:lvl6pPr>
            <a:lvl7pPr marL="4876861" indent="0">
              <a:buNone/>
              <a:defRPr sz="2844"/>
            </a:lvl7pPr>
            <a:lvl8pPr marL="5689671" indent="0">
              <a:buNone/>
              <a:defRPr sz="2844"/>
            </a:lvl8pPr>
            <a:lvl9pPr marL="6502481" indent="0">
              <a:buNone/>
              <a:defRPr sz="2844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27629" y="3831829"/>
            <a:ext cx="2287829" cy="688464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7082" y="3399634"/>
            <a:ext cx="2288321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22273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844"/>
            </a:lvl2pPr>
            <a:lvl3pPr marL="1625620" indent="0">
              <a:buNone/>
              <a:defRPr sz="2844"/>
            </a:lvl3pPr>
            <a:lvl4pPr marL="2438430" indent="0">
              <a:buNone/>
              <a:defRPr sz="2844"/>
            </a:lvl4pPr>
            <a:lvl5pPr marL="3251241" indent="0">
              <a:buNone/>
              <a:defRPr sz="2844"/>
            </a:lvl5pPr>
            <a:lvl6pPr marL="4064051" indent="0">
              <a:buNone/>
              <a:defRPr sz="2844"/>
            </a:lvl6pPr>
            <a:lvl7pPr marL="4876861" indent="0">
              <a:buNone/>
              <a:defRPr sz="2844"/>
            </a:lvl7pPr>
            <a:lvl8pPr marL="5689671" indent="0">
              <a:buNone/>
              <a:defRPr sz="2844"/>
            </a:lvl8pPr>
            <a:lvl9pPr marL="6502481" indent="0">
              <a:buNone/>
              <a:defRPr sz="2844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87081" y="3831828"/>
            <a:ext cx="2288322" cy="688464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3304373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5848352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20833" y="4793879"/>
            <a:ext cx="2733212" cy="228601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841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6" y="1952625"/>
            <a:ext cx="6619244" cy="2562225"/>
          </a:xfrm>
        </p:spPr>
        <p:txBody>
          <a:bodyPr vert="eaVert"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21580" y="4793879"/>
            <a:ext cx="742949" cy="2285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0009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38927" y="958850"/>
            <a:ext cx="1057474" cy="3561443"/>
          </a:xfrm>
        </p:spPr>
        <p:txBody>
          <a:bodyPr vert="eaVert"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6" y="958850"/>
            <a:ext cx="4692019" cy="3561443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9829" y="4793879"/>
            <a:ext cx="744101" cy="2285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439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216" y="730251"/>
            <a:ext cx="6571060" cy="5302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6571060" cy="2562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89829" y="4793879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8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0833" y="4793879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78" b="1" i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4978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727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196374"/>
            <a:ext cx="6619244" cy="2008236"/>
          </a:xfrm>
        </p:spPr>
        <p:txBody>
          <a:bodyPr/>
          <a:lstStyle/>
          <a:p>
            <a:pPr marL="0" lvl="0" indent="0">
              <a:buNone/>
            </a:pPr>
            <a:r>
              <a:rPr sz="4000" dirty="0"/>
              <a:t>DTOs &amp; Mass Assignment Attacks: Protecting APIs from Over-Posting and Privilege Escalation</a:t>
            </a:r>
            <a:endParaRPr lang="en-US" sz="40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3374515"/>
            <a:ext cx="6619244" cy="646065"/>
          </a:xfrm>
        </p:spPr>
        <p:txBody>
          <a:bodyPr/>
          <a:lstStyle/>
          <a:p>
            <a:pPr marL="0" lvl="0" indent="0">
              <a:buNone/>
            </a:pPr>
            <a:r>
              <a:t>Building Secure, Scalable, Fault-Tolerant and Low-Latency APIs with Java &amp; Spring Boot</a:t>
            </a:r>
            <a:br/>
            <a:br/>
            <a:r>
              <a:t>Ngane Emmanuel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2026-01-18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Lesson Context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Where We Are</a:t>
            </a:r>
          </a:p>
          <a:p>
            <a:pPr lvl="0"/>
            <a:r>
              <a:t>✅ Built a basic API</a:t>
            </a:r>
          </a:p>
          <a:p>
            <a:pPr lvl="0"/>
            <a:r>
              <a:t>✅ Introduced API security fundamentals</a:t>
            </a:r>
          </a:p>
          <a:p>
            <a:pPr lvl="0"/>
            <a:r>
              <a:t>✅ Learned injection attacks</a:t>
            </a:r>
          </a:p>
          <a:p>
            <a:pPr lvl="0"/>
            <a:r>
              <a:t>🚨 Now addressing object binding vulnerabilities</a:t>
            </a:r>
          </a:p>
          <a:p>
            <a:pPr marL="0" lvl="0" indent="0">
              <a:buNone/>
            </a:pPr>
            <a:r>
              <a:t>Many modern API breaches come from improper data binding.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Learning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By the end of this lesson:</a:t>
            </a:r>
          </a:p>
          <a:p>
            <a:pPr lvl="0"/>
            <a:r>
              <a:t>Understand what DTOs are.</a:t>
            </a:r>
          </a:p>
          <a:p>
            <a:pPr lvl="0"/>
            <a:r>
              <a:t>Learn why direct entity binding is dangerous.</a:t>
            </a:r>
          </a:p>
          <a:p>
            <a:pPr lvl="0"/>
            <a:r>
              <a:t>Understand mass assignment attacks.</a:t>
            </a:r>
          </a:p>
          <a:p>
            <a:pPr lvl="0"/>
            <a:r>
              <a:t>See how privilege escalation happens.</a:t>
            </a:r>
          </a:p>
          <a:p>
            <a:pPr lvl="0"/>
            <a:r>
              <a:t>Learn how DTOs prevent these attacks.</a:t>
            </a:r>
          </a:p>
          <a:p>
            <a:pPr lvl="0"/>
            <a:r>
              <a:t>Prepare for the practical demo.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What Is a DTO?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Definition</a:t>
            </a:r>
          </a:p>
          <a:p>
            <a:pPr marL="0" lvl="0" indent="0">
              <a:buNone/>
            </a:pPr>
            <a:r>
              <a:t>DTO stands for </a:t>
            </a:r>
            <a:r>
              <a:rPr b="1"/>
              <a:t>Data Transfer Object</a:t>
            </a:r>
            <a:r>
              <a:t>.</a:t>
            </a:r>
          </a:p>
          <a:p>
            <a:pPr marL="0" lvl="0" indent="0">
              <a:buNone/>
            </a:pPr>
            <a:r>
              <a:t>A DTO is a simple object used to:</a:t>
            </a:r>
          </a:p>
          <a:p>
            <a:pPr lvl="0"/>
            <a:r>
              <a:t>Carry data between layers</a:t>
            </a:r>
          </a:p>
          <a:p>
            <a:pPr lvl="0"/>
            <a:r>
              <a:t>Define what data is allowed in requests and responses</a:t>
            </a:r>
          </a:p>
          <a:p>
            <a:pPr lvl="0"/>
            <a:r>
              <a:t>Prevent exposing internal models directly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What DTOs Are NOT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❌ Not database entities</a:t>
            </a:r>
          </a:p>
          <a:p>
            <a:pPr lvl="0"/>
            <a:r>
              <a:t>❌ Not business logic containers</a:t>
            </a:r>
          </a:p>
          <a:p>
            <a:pPr lvl="0"/>
            <a:r>
              <a:t>❌ Not persistence models</a:t>
            </a:r>
          </a:p>
          <a:p>
            <a:pPr lvl="0"/>
            <a:r>
              <a:t>❌ Not domain objects</a:t>
            </a:r>
          </a:p>
          <a:p>
            <a:pPr marL="0" lvl="0" indent="0">
              <a:buNone/>
            </a:pPr>
            <a:r>
              <a:t>DTOs are boundaries.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Why DTOs Exist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DTOs help:</a:t>
            </a:r>
          </a:p>
          <a:p>
            <a:pPr lvl="0"/>
            <a:r>
              <a:t>Control exposed fields</a:t>
            </a:r>
          </a:p>
          <a:p>
            <a:pPr lvl="0"/>
            <a:r>
              <a:t>Validate input cleanly</a:t>
            </a:r>
          </a:p>
          <a:p>
            <a:pPr lvl="0"/>
            <a:r>
              <a:t>Decouple API contracts from internal models</a:t>
            </a:r>
          </a:p>
          <a:p>
            <a:pPr lvl="0"/>
            <a:r>
              <a:t>Improve security</a:t>
            </a:r>
          </a:p>
          <a:p>
            <a:pPr lvl="0"/>
            <a:r>
              <a:t>Improve maintainability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The Danger of Direct Entity Binding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Common Shortcut</a:t>
            </a:r>
          </a:p>
          <a:p>
            <a:pPr marL="0" lvl="0" indent="0">
              <a:buNone/>
            </a:pPr>
            <a:r>
              <a:rPr dirty="0"/>
              <a:t>Many developers do this:</a:t>
            </a:r>
          </a:p>
          <a:p>
            <a:pPr lvl="0" indent="0">
              <a:buNone/>
            </a:pPr>
            <a:r>
              <a:rPr dirty="0">
                <a:solidFill>
                  <a:srgbClr val="7D9029"/>
                </a:solidFill>
                <a:latin typeface="Courier"/>
              </a:rPr>
              <a:t>@PostMapping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"/users"</a:t>
            </a:r>
            <a:r>
              <a:rPr dirty="0">
                <a:solidFill>
                  <a:srgbClr val="666666"/>
                </a:solidFill>
                <a:latin typeface="Courier"/>
              </a:rPr>
              <a:t>)</a:t>
            </a:r>
            <a:br>
              <a:rPr dirty="0"/>
            </a:br>
            <a:r>
              <a:rPr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dirty="0">
                <a:latin typeface="Courier"/>
              </a:rPr>
              <a:t> User </a:t>
            </a:r>
            <a:r>
              <a:rPr dirty="0">
                <a:solidFill>
                  <a:srgbClr val="06287E"/>
                </a:solidFill>
                <a:latin typeface="Courier"/>
              </a:rPr>
              <a:t>create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solidFill>
                  <a:srgbClr val="7D9029"/>
                </a:solidFill>
                <a:latin typeface="Courier"/>
              </a:rPr>
              <a:t>@RequestBody</a:t>
            </a:r>
            <a:r>
              <a:rPr dirty="0">
                <a:latin typeface="Courier"/>
              </a:rPr>
              <a:t> User user</a:t>
            </a:r>
            <a:r>
              <a:rPr dirty="0">
                <a:solidFill>
                  <a:srgbClr val="666666"/>
                </a:solidFill>
                <a:latin typeface="Courier"/>
              </a:rPr>
              <a:t>)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007020"/>
                </a:solidFill>
                <a:latin typeface="Courier"/>
              </a:rPr>
              <a:t>return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userRepository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save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latin typeface="Courier"/>
              </a:rPr>
              <a:t>user</a:t>
            </a:r>
            <a:r>
              <a:rPr dirty="0">
                <a:solidFill>
                  <a:srgbClr val="666666"/>
                </a:solidFill>
                <a:latin typeface="Courier"/>
              </a:rPr>
              <a:t>);</a:t>
            </a:r>
            <a:br>
              <a:rPr dirty="0"/>
            </a:b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</a:p>
          <a:p>
            <a:pPr marL="0" lvl="0" indent="0">
              <a:buNone/>
            </a:pPr>
            <a:r>
              <a:rPr dirty="0"/>
              <a:t>This binds request data directly into the entity.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B4CAC6-3C32-33AD-1C37-C0275B9E344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spcBef>
                <a:spcPts val="3000"/>
              </a:spcBef>
              <a:buNone/>
            </a:pPr>
            <a:r>
              <a:rPr lang="en-US" b="1" dirty="0"/>
              <a:t>Why This Is Dangerous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The client can send </a:t>
            </a:r>
            <a:r>
              <a:rPr lang="en-US" b="1" dirty="0"/>
              <a:t>any field</a:t>
            </a:r>
            <a:r>
              <a:rPr lang="en-US" dirty="0"/>
              <a:t> present in the entity.</a:t>
            </a:r>
            <a:endParaRPr lang="en-US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dirty="0"/>
              <a:t>If the entity contains: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id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role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balance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 err="1"/>
              <a:t>isAdmin</a:t>
            </a:r>
            <a:endParaRPr lang="en-US">
              <a:solidFill>
                <a:srgbClr val="000000"/>
              </a:solidFill>
            </a:endParaRPr>
          </a:p>
          <a:p>
            <a:r>
              <a:rPr lang="en-US" dirty="0"/>
              <a:t>permissions</a:t>
            </a:r>
            <a:endParaRPr lang="en-US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dirty="0"/>
              <a:t>The attacker can modify them.</a:t>
            </a:r>
            <a:endParaRPr lang="en-US" dirty="0">
              <a:solidFill>
                <a:srgbClr val="0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What Is Mass Assignment?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Definition</a:t>
            </a:r>
          </a:p>
          <a:p>
            <a:pPr marL="0" lvl="0" indent="0">
              <a:buNone/>
            </a:pPr>
            <a:r>
              <a:t>Mass assignment occurs when:</a:t>
            </a:r>
          </a:p>
          <a:p>
            <a:pPr marL="1270000" lvl="0" indent="0">
              <a:buNone/>
            </a:pPr>
            <a:r>
              <a:rPr sz="2000"/>
              <a:t>An attacker sends extra fields in a request that get automatically mapped into an object.</a:t>
            </a:r>
          </a:p>
          <a:p>
            <a:pPr marL="0" lvl="0" indent="0">
              <a:buNone/>
            </a:pPr>
            <a:r>
              <a:t>The framework binds everything blindly.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Example Attack Payload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lvl="0" indent="0">
              <a:buNone/>
            </a:pPr>
            <a:r>
              <a:rPr dirty="0"/>
              <a:t>Client sends:</a:t>
            </a:r>
          </a:p>
          <a:p>
            <a:pPr lvl="0" indent="0">
              <a:buNone/>
            </a:pPr>
            <a:r>
              <a:rPr dirty="0">
                <a:solidFill>
                  <a:srgbClr val="06287E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>
                <a:solidFill>
                  <a:srgbClr val="902000"/>
                </a:solidFill>
                <a:latin typeface="Courier"/>
              </a:rPr>
              <a:t>"username"</a:t>
            </a:r>
            <a:r>
              <a:rPr dirty="0">
                <a:solidFill>
                  <a:srgbClr val="06287E"/>
                </a:solidFill>
                <a:latin typeface="Courier"/>
              </a:rPr>
              <a:t>: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4070A0"/>
                </a:solidFill>
                <a:latin typeface="Courier"/>
              </a:rPr>
              <a:t>"bob"</a:t>
            </a:r>
            <a:r>
              <a:rPr dirty="0">
                <a:solidFill>
                  <a:srgbClr val="06287E"/>
                </a:solidFill>
                <a:latin typeface="Courier"/>
              </a:rPr>
              <a:t>,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>
                <a:solidFill>
                  <a:srgbClr val="902000"/>
                </a:solidFill>
                <a:latin typeface="Courier"/>
              </a:rPr>
              <a:t>"password"</a:t>
            </a:r>
            <a:r>
              <a:rPr dirty="0">
                <a:solidFill>
                  <a:srgbClr val="06287E"/>
                </a:solidFill>
                <a:latin typeface="Courier"/>
              </a:rPr>
              <a:t>: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4070A0"/>
                </a:solidFill>
                <a:latin typeface="Courier"/>
              </a:rPr>
              <a:t>"1234"</a:t>
            </a:r>
            <a:r>
              <a:rPr dirty="0">
                <a:solidFill>
                  <a:srgbClr val="06287E"/>
                </a:solidFill>
                <a:latin typeface="Courier"/>
              </a:rPr>
              <a:t>,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>
                <a:solidFill>
                  <a:srgbClr val="902000"/>
                </a:solidFill>
                <a:latin typeface="Courier"/>
              </a:rPr>
              <a:t>"role"</a:t>
            </a:r>
            <a:r>
              <a:rPr dirty="0">
                <a:solidFill>
                  <a:srgbClr val="06287E"/>
                </a:solidFill>
                <a:latin typeface="Courier"/>
              </a:rPr>
              <a:t>: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4070A0"/>
                </a:solidFill>
                <a:latin typeface="Courier"/>
              </a:rPr>
              <a:t>"ADMIN"</a:t>
            </a:r>
            <a:r>
              <a:rPr dirty="0">
                <a:solidFill>
                  <a:srgbClr val="06287E"/>
                </a:solidFill>
                <a:latin typeface="Courier"/>
              </a:rPr>
              <a:t>,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>
                <a:solidFill>
                  <a:srgbClr val="902000"/>
                </a:solidFill>
                <a:latin typeface="Courier"/>
              </a:rPr>
              <a:t>"balance"</a:t>
            </a:r>
            <a:r>
              <a:rPr dirty="0">
                <a:solidFill>
                  <a:srgbClr val="06287E"/>
                </a:solidFill>
                <a:latin typeface="Courier"/>
              </a:rPr>
              <a:t>: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40A070"/>
                </a:solidFill>
                <a:latin typeface="Courier"/>
              </a:rPr>
              <a:t>1000000</a:t>
            </a:r>
            <a:br>
              <a:rPr dirty="0"/>
            </a:br>
            <a:r>
              <a:rPr dirty="0">
                <a:solidFill>
                  <a:srgbClr val="06287E"/>
                </a:solidFill>
                <a:latin typeface="Courier"/>
              </a:rPr>
              <a:t>}</a:t>
            </a:r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6EDFC-619F-CC7E-AF28-09833525CC4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If bound directly to entity: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Privileges escalate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Data is corrupted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Business rules bypassed</a:t>
            </a:r>
            <a:endParaRPr lang="en-US" dirty="0">
              <a:solidFill>
                <a:srgbClr val="0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Why This Happens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Automatic object binding</a:t>
            </a:r>
          </a:p>
          <a:p>
            <a:pPr lvl="0"/>
            <a:r>
              <a:t>Lack of field restrictions</a:t>
            </a:r>
          </a:p>
          <a:p>
            <a:pPr lvl="0"/>
            <a:r>
              <a:t>Trusting client input</a:t>
            </a:r>
          </a:p>
          <a:p>
            <a:pPr lvl="0"/>
            <a:r>
              <a:t>Poor validation</a:t>
            </a:r>
          </a:p>
          <a:p>
            <a:pPr lvl="0"/>
            <a:r>
              <a:t>Convenience shortcuts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Privilege Escalation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What Is Privilege Escalation?</a:t>
            </a:r>
          </a:p>
          <a:p>
            <a:pPr marL="0" indent="0">
              <a:buNone/>
            </a:pPr>
            <a:r>
              <a:rPr dirty="0"/>
              <a:t>Privilege escalation occurs when:</a:t>
            </a:r>
            <a:endParaRPr lang="en-US" dirty="0"/>
          </a:p>
          <a:p>
            <a:pPr lvl="0"/>
            <a:r>
              <a:rPr sz="2000" dirty="0"/>
              <a:t>A user gains more permissions than they are supposed to have.</a:t>
            </a:r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8994D2-38F9-D45F-96E4-13738EE48CD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spcBef>
                <a:spcPts val="3000"/>
              </a:spcBef>
              <a:buNone/>
            </a:pPr>
            <a:r>
              <a:rPr lang="en-US" b="1" dirty="0"/>
              <a:t>How Mass Assignment </a:t>
            </a:r>
            <a:r>
              <a:rPr lang="en-US" b="1" dirty="0" err="1"/>
              <a:t>EnablesIt</a:t>
            </a:r>
            <a:endParaRPr lang="en-US" dirty="0" err="1">
              <a:solidFill>
                <a:srgbClr val="000000"/>
              </a:solidFill>
            </a:endParaRPr>
          </a:p>
          <a:p>
            <a:r>
              <a:rPr lang="en-US" dirty="0"/>
              <a:t>Attacker injects </a:t>
            </a:r>
            <a:r>
              <a:rPr lang="en-US" dirty="0" err="1"/>
              <a:t>privilegedfields</a:t>
            </a:r>
            <a:r>
              <a:rPr lang="en-US" dirty="0"/>
              <a:t>.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Application trusts </a:t>
            </a:r>
            <a:r>
              <a:rPr lang="en-US" dirty="0" err="1"/>
              <a:t>incomingobject</a:t>
            </a:r>
            <a:r>
              <a:rPr lang="en-US" dirty="0"/>
              <a:t>.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Database persists </a:t>
            </a:r>
            <a:r>
              <a:rPr lang="en-US" dirty="0" err="1"/>
              <a:t>maliciousstate</a:t>
            </a:r>
            <a:r>
              <a:rPr lang="en-US" dirty="0"/>
              <a:t>.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Security is bypassed.</a:t>
            </a:r>
            <a:endParaRPr lang="en-US" dirty="0">
              <a:solidFill>
                <a:srgbClr val="0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Real-World Impact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Unauthorized admin access</a:t>
            </a:r>
          </a:p>
          <a:p>
            <a:pPr lvl="0"/>
            <a:r>
              <a:t>Financial fraud</a:t>
            </a:r>
          </a:p>
          <a:p>
            <a:pPr lvl="0"/>
            <a:r>
              <a:t>Data tampering</a:t>
            </a:r>
          </a:p>
          <a:p>
            <a:pPr lvl="0"/>
            <a:r>
              <a:t>Compliance violations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Why Frameworks Allow This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Developer Convenience</a:t>
            </a:r>
          </a:p>
          <a:p>
            <a:pPr marL="0" lvl="0" indent="0">
              <a:buNone/>
            </a:pPr>
            <a:r>
              <a:rPr dirty="0"/>
              <a:t>Frameworks optimize for:</a:t>
            </a:r>
          </a:p>
          <a:p>
            <a:pPr lvl="0"/>
            <a:r>
              <a:rPr dirty="0"/>
              <a:t>Speed of development</a:t>
            </a:r>
          </a:p>
          <a:p>
            <a:pPr lvl="0"/>
            <a:r>
              <a:rPr dirty="0"/>
              <a:t>Automatic mapping</a:t>
            </a:r>
          </a:p>
          <a:p>
            <a:pPr lvl="0"/>
            <a:r>
              <a:rPr dirty="0"/>
              <a:t>Reduced boilerplate</a:t>
            </a:r>
          </a:p>
          <a:p>
            <a:pPr lvl="0"/>
            <a:r>
              <a:rPr dirty="0"/>
              <a:t>Rapid prototyping</a:t>
            </a:r>
          </a:p>
          <a:p>
            <a:pPr marL="0" lvl="0" indent="0">
              <a:buNone/>
            </a:pPr>
            <a:r>
              <a:rPr dirty="0"/>
              <a:t>Security requires intentional boundaries.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3B8E0F-CE61-EAAA-17CE-6EDCE24B5A4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spcBef>
                <a:spcPts val="3000"/>
              </a:spcBef>
              <a:buNone/>
            </a:pPr>
            <a:r>
              <a:rPr lang="en-US" b="1" dirty="0"/>
              <a:t>The Trap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Convenience today </a:t>
            </a:r>
            <a:r>
              <a:rPr lang="en-US" dirty="0" err="1"/>
              <a:t>becomesvulnerability</a:t>
            </a:r>
            <a:r>
              <a:rPr lang="en-US" dirty="0"/>
              <a:t> tomorrow.</a:t>
            </a:r>
            <a:endParaRPr lang="en-US" dirty="0">
              <a:solidFill>
                <a:srgbClr val="0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How DTOs Solve the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lvl="0">
              <a:spcBef>
                <a:spcPts val="3000"/>
              </a:spcBef>
            </a:pPr>
            <a:r>
              <a:rPr b="1" dirty="0"/>
              <a:t>Controlled Input Surface</a:t>
            </a:r>
            <a:endParaRPr lang="en-US" dirty="0"/>
          </a:p>
          <a:p>
            <a:pPr marL="0" lvl="0" indent="0">
              <a:buNone/>
            </a:pPr>
            <a:r>
              <a:rPr dirty="0"/>
              <a:t>DTO defines exactly what fields are allowed.</a:t>
            </a:r>
          </a:p>
          <a:p>
            <a:pPr marL="0" lvl="0" indent="0">
              <a:buNone/>
            </a:pPr>
            <a:r>
              <a:rPr dirty="0"/>
              <a:t>Example DTO:</a:t>
            </a:r>
          </a:p>
          <a:p>
            <a:pPr lvl="0" indent="0">
              <a:buNone/>
            </a:pPr>
            <a:r>
              <a:rPr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7020"/>
                </a:solidFill>
                <a:latin typeface="Courier"/>
              </a:rPr>
              <a:t>class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CreateUserRequest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007020"/>
                </a:solidFill>
                <a:latin typeface="Courier"/>
              </a:rPr>
              <a:t>private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008000"/>
                </a:solidFill>
                <a:latin typeface="Courier"/>
              </a:rPr>
              <a:t>String</a:t>
            </a:r>
            <a:r>
              <a:rPr dirty="0">
                <a:latin typeface="Courier"/>
              </a:rPr>
              <a:t> username</a:t>
            </a:r>
            <a:r>
              <a:rPr dirty="0">
                <a:solidFill>
                  <a:srgbClr val="666666"/>
                </a:solidFill>
                <a:latin typeface="Courier"/>
              </a:rPr>
              <a:t>;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007020"/>
                </a:solidFill>
                <a:latin typeface="Courier"/>
              </a:rPr>
              <a:t>private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008000"/>
                </a:solidFill>
                <a:latin typeface="Courier"/>
              </a:rPr>
              <a:t>String</a:t>
            </a:r>
            <a:r>
              <a:rPr dirty="0">
                <a:latin typeface="Courier"/>
              </a:rPr>
              <a:t> password</a:t>
            </a:r>
            <a:r>
              <a:rPr dirty="0">
                <a:solidFill>
                  <a:srgbClr val="666666"/>
                </a:solidFill>
                <a:latin typeface="Courier"/>
              </a:rPr>
              <a:t>;</a:t>
            </a:r>
            <a:br>
              <a:rPr dirty="0"/>
            </a:b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</a:p>
          <a:p>
            <a:pPr marL="0" lvl="0" indent="0">
              <a:buNone/>
            </a:pPr>
            <a:r>
              <a:rPr dirty="0"/>
              <a:t>No role. No balance. No admin flag.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How DTOs Solve the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lvl="0">
              <a:spcBef>
                <a:spcPts val="3000"/>
              </a:spcBef>
            </a:pPr>
            <a:r>
              <a:rPr b="1" dirty="0"/>
              <a:t>Explicit Mapping</a:t>
            </a:r>
            <a:endParaRPr lang="en-US" dirty="0"/>
          </a:p>
          <a:p>
            <a:pPr marL="0" lvl="0" indent="0">
              <a:buNone/>
            </a:pPr>
            <a:r>
              <a:rPr dirty="0"/>
              <a:t>Mapping from DTO → Entity is explicit:</a:t>
            </a:r>
          </a:p>
          <a:p>
            <a:pPr lvl="1">
              <a:buFont typeface="Courier New" charset="2"/>
              <a:buChar char="o"/>
            </a:pPr>
            <a:r>
              <a:rPr dirty="0"/>
              <a:t>Developer chooses what fields transfer.</a:t>
            </a:r>
          </a:p>
          <a:p>
            <a:pPr lvl="1">
              <a:buFont typeface="Courier New" charset="2"/>
              <a:buChar char="o"/>
            </a:pPr>
            <a:r>
              <a:rPr dirty="0"/>
              <a:t>Business rules can be applied.</a:t>
            </a:r>
          </a:p>
          <a:p>
            <a:pPr lvl="1">
              <a:buFont typeface="Courier New" charset="2"/>
              <a:buChar char="o"/>
            </a:pPr>
            <a:r>
              <a:rPr dirty="0"/>
              <a:t>Defaults are enforced.</a:t>
            </a:r>
            <a:endParaRPr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9983E1-F004-3380-9B7C-C52D066E97F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>
              <a:spcBef>
                <a:spcPts val="3000"/>
              </a:spcBef>
            </a:pPr>
            <a:r>
              <a:rPr lang="en-US" sz="1500" b="1" dirty="0"/>
              <a:t>Validation</a:t>
            </a:r>
            <a:endParaRPr lang="en-US" sz="1500" dirty="0">
              <a:solidFill>
                <a:srgbClr val="000000"/>
              </a:solidFill>
            </a:endParaRPr>
          </a:p>
          <a:p>
            <a:pPr lvl="1">
              <a:buFont typeface="Courier New" charset="2"/>
              <a:buChar char="o"/>
            </a:pPr>
            <a:r>
              <a:rPr lang="en-US" sz="1500" dirty="0"/>
              <a:t>DTOs integrate cleanly with:</a:t>
            </a:r>
            <a:endParaRPr lang="en-US" sz="1500" dirty="0">
              <a:solidFill>
                <a:srgbClr val="000000"/>
              </a:solidFill>
            </a:endParaRPr>
          </a:p>
          <a:p>
            <a:pPr lvl="1">
              <a:buFont typeface="Courier New" charset="2"/>
              <a:buChar char="o"/>
            </a:pPr>
            <a:r>
              <a:rPr lang="en-US" sz="1500" dirty="0"/>
              <a:t>Bean validation</a:t>
            </a:r>
            <a:endParaRPr lang="en-US" sz="1500">
              <a:solidFill>
                <a:srgbClr val="000000"/>
              </a:solidFill>
            </a:endParaRPr>
          </a:p>
          <a:p>
            <a:pPr lvl="1">
              <a:buFont typeface="Courier New" charset="2"/>
              <a:buChar char="o"/>
            </a:pPr>
            <a:r>
              <a:rPr lang="en-US" sz="1500" dirty="0"/>
              <a:t>Custom validators</a:t>
            </a:r>
            <a:endParaRPr lang="en-US" sz="1500">
              <a:solidFill>
                <a:srgbClr val="000000"/>
              </a:solidFill>
            </a:endParaRPr>
          </a:p>
          <a:p>
            <a:pPr lvl="1">
              <a:buFont typeface="Courier New" charset="2"/>
              <a:buChar char="o"/>
            </a:pPr>
            <a:r>
              <a:rPr lang="en-US" sz="1500" dirty="0"/>
              <a:t>Sanitization</a:t>
            </a:r>
            <a:endParaRPr lang="en-US" sz="150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1500" dirty="0"/>
              <a:t>Invalid data never reaches domain logic.</a:t>
            </a:r>
            <a:endParaRPr lang="en-US" sz="1500" dirty="0">
              <a:solidFill>
                <a:srgbClr val="000000"/>
              </a:solidFill>
            </a:endParaRPr>
          </a:p>
          <a:p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How DTOs Solve the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Separation of Concerns</a:t>
            </a:r>
          </a:p>
          <a:p>
            <a:pPr marL="0" lvl="0" indent="0">
              <a:buNone/>
            </a:pPr>
            <a:r>
              <a:t>DTOs isolate:</a:t>
            </a:r>
          </a:p>
          <a:p>
            <a:pPr lvl="0"/>
            <a:r>
              <a:t>API contract</a:t>
            </a:r>
          </a:p>
          <a:p>
            <a:pPr lvl="0"/>
            <a:r>
              <a:t>Domain model</a:t>
            </a:r>
          </a:p>
          <a:p>
            <a:pPr lvl="0"/>
            <a:r>
              <a:t>Persistence model</a:t>
            </a:r>
          </a:p>
          <a:p>
            <a:pPr marL="0" lvl="0" indent="0">
              <a:buNone/>
            </a:pPr>
            <a:r>
              <a:t>This improves long-term maintainability.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DTOs vs Entities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7735516"/>
              </p:ext>
            </p:extLst>
          </p:nvPr>
        </p:nvGraphicFramePr>
        <p:xfrm>
          <a:off x="457200" y="213868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Entity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Data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Persistence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Controlled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Dangerous exposure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Input focused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Domain focused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API contract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Internal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Mapping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Automatic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Tradeoffs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Costs of DTOs</a:t>
            </a:r>
          </a:p>
          <a:p>
            <a:pPr lvl="0"/>
            <a:r>
              <a:t>More classes</a:t>
            </a:r>
          </a:p>
          <a:p>
            <a:pPr lvl="0"/>
            <a:r>
              <a:t>Mapping code</a:t>
            </a:r>
          </a:p>
          <a:p>
            <a:pPr lvl="0"/>
            <a:r>
              <a:t>Slight development overhead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Benefits Outweigh Cost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Strong security boundary</a:t>
            </a:r>
          </a:p>
          <a:p>
            <a:pPr lvl="0"/>
            <a:r>
              <a:t>Clear API contracts</a:t>
            </a:r>
          </a:p>
          <a:p>
            <a:pPr lvl="0"/>
            <a:r>
              <a:t>Safer refactoring</a:t>
            </a:r>
          </a:p>
          <a:p>
            <a:pPr lvl="0"/>
            <a:r>
              <a:t>Reduced attack surface</a:t>
            </a:r>
          </a:p>
          <a:p>
            <a:pPr marL="0" lvl="0" indent="0">
              <a:buNone/>
            </a:pPr>
            <a:r>
              <a:t>Security is worth the extra lines of code.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t>What We Will Do Practically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Next Video Plan</a:t>
            </a:r>
          </a:p>
          <a:p>
            <a:pPr marL="342900" lvl="0" indent="-342900">
              <a:buAutoNum type="arabicPeriod"/>
            </a:pPr>
            <a:r>
              <a:t>Build endpoint using direct entity binding.</a:t>
            </a:r>
          </a:p>
          <a:p>
            <a:pPr marL="342900" lvl="0" indent="-342900">
              <a:buAutoNum type="arabicPeriod"/>
            </a:pPr>
            <a:r>
              <a:t>Perform mass assignment attack.</a:t>
            </a:r>
          </a:p>
          <a:p>
            <a:pPr marL="342900" lvl="0" indent="-342900">
              <a:buAutoNum type="arabicPeriod"/>
            </a:pPr>
            <a:r>
              <a:t>Demonstrate privilege escalation.</a:t>
            </a:r>
          </a:p>
          <a:p>
            <a:pPr marL="342900" lvl="0" indent="-342900">
              <a:buAutoNum type="arabicPeriod"/>
            </a:pPr>
            <a:r>
              <a:t>Introduce DTO.</a:t>
            </a:r>
          </a:p>
          <a:p>
            <a:pPr marL="342900" lvl="0" indent="-342900">
              <a:buAutoNum type="arabicPeriod"/>
            </a:pPr>
            <a:r>
              <a:t>Implement mapping and validation.</a:t>
            </a:r>
          </a:p>
          <a:p>
            <a:pPr marL="342900" lvl="0" indent="-342900">
              <a:buAutoNum type="arabicPeriod"/>
            </a:pPr>
            <a:r>
              <a:t>Re-test the attack and verify protection.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t>Key Takeaways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dirty="0"/>
              <a:t>DTOs protect APIs from mass assignment.</a:t>
            </a:r>
          </a:p>
          <a:p>
            <a:pPr lvl="0"/>
            <a:r>
              <a:rPr dirty="0"/>
              <a:t>Direct entity binding is dangerous.</a:t>
            </a:r>
          </a:p>
          <a:p>
            <a:pPr lvl="0"/>
            <a:r>
              <a:rPr dirty="0"/>
              <a:t>Attackers exploit automatic mapping.</a:t>
            </a:r>
          </a:p>
          <a:p>
            <a:pPr lvl="0"/>
            <a:r>
              <a:rPr dirty="0"/>
              <a:t>Explicit boundaries improve security.</a:t>
            </a:r>
          </a:p>
          <a:p>
            <a:pPr lvl="0"/>
            <a:r>
              <a:rPr dirty="0"/>
              <a:t>Small design choices have big impact.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21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Ion Boardroom</vt:lpstr>
      <vt:lpstr>DTOs &amp; Mass Assignment Attacks: Protecting APIs from Over-Posting and Privilege Escalation</vt:lpstr>
      <vt:lpstr>Lesson Context</vt:lpstr>
      <vt:lpstr>Learning Objectives</vt:lpstr>
      <vt:lpstr>What Is a DTO?</vt:lpstr>
      <vt:lpstr>What DTOs Are NOT</vt:lpstr>
      <vt:lpstr>Why DTOs Exist</vt:lpstr>
      <vt:lpstr>The Danger of Direct Entity Binding</vt:lpstr>
      <vt:lpstr>What Is Mass Assignment?</vt:lpstr>
      <vt:lpstr>Example Attack Payload</vt:lpstr>
      <vt:lpstr>Why This Happens</vt:lpstr>
      <vt:lpstr>Privilege Escalation</vt:lpstr>
      <vt:lpstr>Real-World Impact</vt:lpstr>
      <vt:lpstr>Why Frameworks Allow This</vt:lpstr>
      <vt:lpstr>How DTOs Solve the Problem</vt:lpstr>
      <vt:lpstr>How DTOs Solve the Problem</vt:lpstr>
      <vt:lpstr>How DTOs Solve the Problem</vt:lpstr>
      <vt:lpstr>DTOs vs Entities</vt:lpstr>
      <vt:lpstr>Tradeoffs</vt:lpstr>
      <vt:lpstr>Benefits Outweigh Cost</vt:lpstr>
      <vt:lpstr>What We Will Do Practically</vt:lpstr>
      <vt:lpstr>Key Takeaways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DTOs &amp; Mass Assignment Attacks: Protecting APIs from Over-Posting and Privilege Escalation</dc:title>
  <dc:creator>Ngane Emmanuel</dc:creator>
  <cp:keywords/>
  <cp:revision>68</cp:revision>
  <dcterms:created xsi:type="dcterms:W3CDTF">2026-01-18T17:54:10Z</dcterms:created>
  <dcterms:modified xsi:type="dcterms:W3CDTF">2026-01-19T10:40:54Z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2026-01-18</vt:lpwstr>
  </property>
  <property fmtid="{D5CDD505-2E9C-101B-9397-08002B2CF9AE}" pid="3" name="output">
    <vt:lpwstr/>
  </property>
  <property fmtid="{D5CDD505-2E9C-101B-9397-08002B2CF9AE}" pid="4" name="subtitle">
    <vt:lpwstr>Building Secure, Scalable, Fault-Tolerant and Low-Latency APIs with Java &amp; Spring Boot</vt:lpwstr>
  </property>
</Properties>
</file>