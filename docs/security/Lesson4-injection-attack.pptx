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CCD5CF-089C-430C-90B7-B09329252BE1}" v="127" dt="2026-01-18T09:49:56.748"/>
    <p1510:client id="{898A36FA-A594-4C34-99AD-0AA1A756C83A}" v="6" dt="2026-01-18T08:09:59.1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25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38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512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64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768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689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02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19239" y="1344169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13982" y="2420874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4406" y="221797"/>
            <a:ext cx="628649" cy="57576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40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5622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776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008234"/>
            <a:ext cx="3263269" cy="1712868"/>
          </a:xfrm>
        </p:spPr>
        <p:txBody>
          <a:bodyPr anchor="ctr"/>
          <a:lstStyle>
            <a:lvl1pPr algn="l">
              <a:defRPr sz="7111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</p:spPr>
        <p:txBody>
          <a:bodyPr anchor="ctr"/>
          <a:lstStyle>
            <a:lvl1pPr marL="0" indent="0" algn="l">
              <a:buNone/>
              <a:defRPr sz="3556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795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128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5" y="1952625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5" y="2384822"/>
            <a:ext cx="3618869" cy="2130029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989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05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667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</p:spPr>
        <p:txBody>
          <a:bodyPr anchor="b"/>
          <a:lstStyle>
            <a:lvl1pPr algn="l">
              <a:defRPr sz="4267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59" y="1085850"/>
            <a:ext cx="3892550" cy="34290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346961"/>
            <a:ext cx="2094869" cy="2171699"/>
          </a:xfrm>
        </p:spPr>
        <p:txBody>
          <a:bodyPr/>
          <a:lstStyle>
            <a:lvl1pPr marL="0" indent="0">
              <a:buNone/>
              <a:defRPr sz="2489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756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270000"/>
            <a:ext cx="2898851" cy="1301750"/>
          </a:xfrm>
        </p:spPr>
        <p:txBody>
          <a:bodyPr anchor="b">
            <a:normAutofit/>
          </a:bodyPr>
          <a:lstStyle>
            <a:lvl1pPr algn="l">
              <a:defRPr sz="6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2489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341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3727445"/>
            <a:ext cx="6619244" cy="425054"/>
          </a:xfrm>
        </p:spPr>
        <p:txBody>
          <a:bodyPr anchor="b">
            <a:normAutofit/>
          </a:bodyPr>
          <a:lstStyle>
            <a:lvl1pPr algn="l">
              <a:defRPr sz="4267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4152499"/>
            <a:ext cx="6619244" cy="370284"/>
          </a:xfrm>
        </p:spPr>
        <p:txBody>
          <a:bodyPr>
            <a:normAutofit/>
          </a:bodyPr>
          <a:lstStyle>
            <a:lvl1pPr marL="0" indent="0">
              <a:buNone/>
              <a:defRPr sz="2133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068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598" y="797563"/>
            <a:ext cx="6623862" cy="1029740"/>
          </a:xfrm>
        </p:spPr>
        <p:txBody>
          <a:bodyPr/>
          <a:lstStyle>
            <a:lvl1pPr>
              <a:defRPr sz="711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3200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1381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661175" y="455502"/>
            <a:ext cx="601434" cy="2718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67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7413344" y="1960340"/>
            <a:ext cx="489572" cy="2718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67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8" y="736600"/>
            <a:ext cx="6340430" cy="2022474"/>
          </a:xfrm>
        </p:spPr>
        <p:txBody>
          <a:bodyPr/>
          <a:lstStyle>
            <a:lvl1pPr>
              <a:defRPr sz="711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59074"/>
            <a:ext cx="5798414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2489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71899"/>
            <a:ext cx="6933673" cy="748393"/>
          </a:xfrm>
        </p:spPr>
        <p:txBody>
          <a:bodyPr anchor="ctr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340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</p:spPr>
        <p:txBody>
          <a:bodyPr anchor="b"/>
          <a:lstStyle>
            <a:lvl1pPr algn="l">
              <a:defRPr sz="7111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68725"/>
            <a:ext cx="6619244" cy="645300"/>
          </a:xfrm>
        </p:spPr>
        <p:txBody>
          <a:bodyPr anchor="t"/>
          <a:lstStyle>
            <a:lvl1pPr marL="0" indent="0" algn="l">
              <a:buNone/>
              <a:defRPr sz="3556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184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6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1952626"/>
            <a:ext cx="235640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5" y="2384823"/>
            <a:ext cx="2356409" cy="2135470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5"/>
            <a:ext cx="2360257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84823"/>
            <a:ext cx="2360257" cy="2135470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6101" y="1952626"/>
            <a:ext cx="2359298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6247" y="2384822"/>
            <a:ext cx="2359152" cy="2135470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7481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6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3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5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0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7629" y="3831829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082" y="3399634"/>
            <a:ext cx="2288321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081" y="3831828"/>
            <a:ext cx="2288322" cy="68846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304373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848352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20833" y="4793879"/>
            <a:ext cx="2733212" cy="2286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179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52625"/>
            <a:ext cx="6619244" cy="2562225"/>
          </a:xfrm>
        </p:spPr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21580" y="4793879"/>
            <a:ext cx="742949" cy="2285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5995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27" y="958850"/>
            <a:ext cx="1057474" cy="3561443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958850"/>
            <a:ext cx="4692019" cy="356144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9829" y="4793879"/>
            <a:ext cx="744101" cy="2285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58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8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8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4978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093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111422"/>
            <a:ext cx="6619244" cy="2008236"/>
          </a:xfrm>
        </p:spPr>
        <p:txBody>
          <a:bodyPr/>
          <a:lstStyle/>
          <a:p>
            <a:pPr marL="0" lvl="0" indent="0">
              <a:buNone/>
            </a:pPr>
            <a:r>
              <a:rPr sz="7200" dirty="0"/>
              <a:t>Injection Attacks in APIs</a:t>
            </a:r>
            <a:endParaRPr lang="en-US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366792"/>
            <a:ext cx="6619244" cy="646065"/>
          </a:xfrm>
        </p:spPr>
        <p:txBody>
          <a:bodyPr/>
          <a:lstStyle/>
          <a:p>
            <a:pPr marL="0" lvl="0" indent="0">
              <a:buNone/>
            </a:pPr>
            <a:r>
              <a:t>Building Secure, Scalable, Fault-Tolerant and Low-Latency APIs with Java &amp; Spring Boot</a:t>
            </a:r>
            <a:br/>
            <a:br/>
            <a:r>
              <a:t>Ngane Emmanuel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2026-01-17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Lesson Context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Where We Are</a:t>
            </a:r>
          </a:p>
          <a:p>
            <a:pPr lvl="0"/>
            <a:r>
              <a:t>✅ Built a basic Spring Boot API</a:t>
            </a:r>
          </a:p>
          <a:p>
            <a:pPr lvl="0"/>
            <a:r>
              <a:t>✅ Introduced API security fundamentals</a:t>
            </a:r>
          </a:p>
          <a:p>
            <a:pPr lvl="0"/>
            <a:r>
              <a:t>🚨 Now exploring injection attacks</a:t>
            </a:r>
          </a:p>
          <a:p>
            <a:pPr marL="0" lvl="0" indent="0">
              <a:buNone/>
            </a:pPr>
            <a:r>
              <a:t>Injection vulnerabilities exist in almost every technology stack.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t>Learning Objectives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By the end of this lesson:</a:t>
            </a:r>
          </a:p>
          <a:p>
            <a:pPr lvl="0"/>
            <a:r>
              <a:t>Understand what injection attacks are.</a:t>
            </a:r>
          </a:p>
          <a:p>
            <a:pPr lvl="0"/>
            <a:r>
              <a:t>Learn why they happen.</a:t>
            </a:r>
          </a:p>
          <a:p>
            <a:pPr lvl="0"/>
            <a:r>
              <a:t>Identify common injection types.</a:t>
            </a:r>
          </a:p>
          <a:p>
            <a:pPr lvl="0"/>
            <a:r>
              <a:t>Understand SQL injection deeply.</a:t>
            </a:r>
          </a:p>
          <a:p>
            <a:pPr lvl="0"/>
            <a:r>
              <a:t>Learn baseline defenses.</a:t>
            </a:r>
          </a:p>
          <a:p>
            <a:pPr lvl="0"/>
            <a:r>
              <a:t>Prepare for practical exploitation demo.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t>What Is an Injection Attack?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Definition</a:t>
            </a:r>
          </a:p>
          <a:p>
            <a:pPr marL="0" lvl="0" indent="0">
              <a:buNone/>
            </a:pPr>
            <a:r>
              <a:t>An injection attack occurs when:</a:t>
            </a:r>
          </a:p>
          <a:p>
            <a:pPr marL="1270000" lvl="0" indent="0">
              <a:buNone/>
            </a:pPr>
            <a:r>
              <a:rPr sz="2000"/>
              <a:t>Untrusted input is interpreted as executable code or commands.</a:t>
            </a:r>
          </a:p>
          <a:p>
            <a:pPr marL="0" lvl="0" indent="0">
              <a:buNone/>
            </a:pPr>
            <a:r>
              <a:t>Instead of being treated as data, user input becomes part of the program logic.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Why Injection Is Dangerous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Injection allows attackers to:</a:t>
            </a:r>
          </a:p>
          <a:p>
            <a:pPr lvl="0"/>
            <a:r>
              <a:t>Bypass authentication</a:t>
            </a:r>
          </a:p>
          <a:p>
            <a:pPr lvl="0"/>
            <a:r>
              <a:t>Read sensitive data</a:t>
            </a:r>
          </a:p>
          <a:p>
            <a:pPr lvl="0"/>
            <a:r>
              <a:t>Modify or delete data</a:t>
            </a:r>
          </a:p>
          <a:p>
            <a:pPr lvl="0"/>
            <a:r>
              <a:t>Execute system commands</a:t>
            </a:r>
          </a:p>
          <a:p>
            <a:pPr lvl="0"/>
            <a:r>
              <a:t>Take full control of systems</a:t>
            </a:r>
          </a:p>
          <a:p>
            <a:pPr marL="0" lvl="0" indent="0">
              <a:buNone/>
            </a:pPr>
            <a:r>
              <a:t>Small bugs → catastrophic impact.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t>Root Cause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Injection happens when:</a:t>
            </a:r>
          </a:p>
          <a:p>
            <a:pPr lvl="0"/>
            <a:r>
              <a:t>Input is not validated.</a:t>
            </a:r>
          </a:p>
          <a:p>
            <a:pPr lvl="0"/>
            <a:r>
              <a:t>Input is concatenated into commands.</a:t>
            </a:r>
          </a:p>
          <a:p>
            <a:pPr lvl="0"/>
            <a:r>
              <a:t>The system trusts external data.</a:t>
            </a:r>
          </a:p>
          <a:p>
            <a:pPr lvl="0"/>
            <a:r>
              <a:t>Parsing boundaries are unclear.</a:t>
            </a:r>
          </a:p>
          <a:p>
            <a:pPr marL="0" lvl="0" indent="0">
              <a:buNone/>
            </a:pPr>
            <a:r>
              <a:t>The system cannot distinguish data from instructions.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t>Common Types of Injection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SQL Injection</a:t>
            </a:r>
          </a:p>
          <a:p>
            <a:pPr lvl="0"/>
            <a:r>
              <a:t>Malicious SQL is injected into database queries.</a:t>
            </a:r>
          </a:p>
          <a:p>
            <a:pPr lvl="0"/>
            <a:r>
              <a:t>Most common injection type.</a:t>
            </a:r>
          </a:p>
          <a:p>
            <a:pPr lvl="0"/>
            <a:r>
              <a:t>Can leak or destroy databases.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Command Injection</a:t>
            </a:r>
          </a:p>
          <a:p>
            <a:pPr lvl="0"/>
            <a:r>
              <a:t>User input executes OS commands.</a:t>
            </a:r>
          </a:p>
          <a:p>
            <a:pPr lvl="0"/>
            <a:r>
              <a:t>Can access system files or processes.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Common Types of Injection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Lightweight Directory Access Protocol (LDAP) Injection</a:t>
            </a:r>
          </a:p>
          <a:p>
            <a:pPr lvl="0"/>
            <a:r>
              <a:rPr dirty="0"/>
              <a:t>Malicious input manipulates directory queries.</a:t>
            </a:r>
          </a:p>
          <a:p>
            <a:pPr lvl="0"/>
            <a:r>
              <a:rPr dirty="0"/>
              <a:t>Often impacts authentication systems.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Deserialization Injection</a:t>
            </a:r>
            <a:endParaRPr dirty="0"/>
          </a:p>
          <a:p>
            <a:pPr lvl="0"/>
            <a:r>
              <a:rPr dirty="0"/>
              <a:t>Malicious objects execute code during deserialization.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31C2E1-53F5-37D7-862D-FCBBC60400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sz="1500" dirty="0"/>
              <a:t>Often leads to remote code execution.</a:t>
            </a:r>
            <a:endParaRPr lang="en-US" sz="1500" dirty="0">
              <a:solidFill>
                <a:srgbClr val="000000"/>
              </a:solidFill>
            </a:endParaRPr>
          </a:p>
          <a:p>
            <a:pPr marL="0" indent="0">
              <a:spcBef>
                <a:spcPts val="3000"/>
              </a:spcBef>
              <a:buNone/>
            </a:pPr>
            <a:r>
              <a:rPr lang="en-US" sz="1500" b="1" dirty="0"/>
              <a:t>Expression Injection</a:t>
            </a:r>
            <a:endParaRPr lang="en-US" sz="1500" dirty="0">
              <a:solidFill>
                <a:srgbClr val="000000"/>
              </a:solidFill>
            </a:endParaRPr>
          </a:p>
          <a:p>
            <a:r>
              <a:rPr lang="en-US" sz="1500" dirty="0"/>
              <a:t>Injecting expressions into template engines </a:t>
            </a:r>
            <a:r>
              <a:rPr lang="en-US" sz="1500" err="1"/>
              <a:t>orevaluators</a:t>
            </a:r>
            <a:r>
              <a:rPr lang="en-US" sz="1500" dirty="0"/>
              <a:t>.</a:t>
            </a:r>
            <a:endParaRPr lang="en-US" sz="15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t>Focus: SQL Injection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Why SQL Injection Is So Common</a:t>
            </a:r>
          </a:p>
          <a:p>
            <a:pPr lvl="0"/>
            <a:r>
              <a:t>Databases power almost every system.</a:t>
            </a:r>
          </a:p>
          <a:p>
            <a:pPr lvl="0"/>
            <a:r>
              <a:t>SQL is string-based.</a:t>
            </a:r>
          </a:p>
          <a:p>
            <a:pPr lvl="0"/>
            <a:r>
              <a:t>Many developers build queries manually.</a:t>
            </a:r>
          </a:p>
          <a:p>
            <a:pPr lvl="0"/>
            <a:r>
              <a:t>Legacy systems still exist.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Vulnerable Example (Conceptual)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lvl="0" indent="0">
              <a:buNone/>
            </a:pPr>
            <a:r>
              <a:rPr b="1" dirty="0"/>
              <a:t>Unsafe query building:</a:t>
            </a:r>
          </a:p>
          <a:p>
            <a:pPr lvl="0" indent="0">
              <a:buNone/>
            </a:pPr>
            <a:r>
              <a:rPr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"/>
              </a:rPr>
              <a:t>
"SELECT * FROM users WHERE username = '" + input + "'"
</a:t>
            </a:r>
          </a:p>
          <a:p>
            <a:pPr marL="0" lvl="0" indent="0">
              <a:buNone/>
            </a:pPr>
            <a:r>
              <a:rPr dirty="0"/>
              <a:t>If input is: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
</a:t>
            </a:r>
            <a:r>
              <a:rPr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"/>
              </a:rPr>
              <a:t>admin' OR '1'='1
</a:t>
            </a:r>
          </a:p>
          <a:p>
            <a:pPr marL="0" lvl="0" indent="0">
              <a:buNone/>
            </a:pPr>
            <a:r>
              <a:rPr dirty="0"/>
              <a:t>The query logic changes.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Vulnerable Example (Conceptual)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What Happens Internally</a:t>
            </a:r>
          </a:p>
          <a:p>
            <a:pPr marL="0" lvl="0" indent="0">
              <a:buNone/>
            </a:pPr>
            <a:r>
              <a:t>The database receives a modified query:</a:t>
            </a:r>
          </a:p>
          <a:p>
            <a:pPr lvl="0"/>
            <a:r>
              <a:t>Conditions become always true.</a:t>
            </a:r>
          </a:p>
          <a:p>
            <a:pPr lvl="0"/>
            <a:r>
              <a:t>Filters are bypassed.</a:t>
            </a:r>
          </a:p>
          <a:p>
            <a:pPr lvl="0"/>
            <a:r>
              <a:t>Data is exposed.</a:t>
            </a:r>
          </a:p>
          <a:p>
            <a:pPr marL="0" lvl="0" indent="0">
              <a:buNone/>
            </a:pPr>
            <a:r>
              <a:t>The database executes exactly what it receives.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dirty="0"/>
              <a:t>Attackers can:</a:t>
            </a:r>
            <a:endParaRPr lang="en-US" dirty="0"/>
          </a:p>
          <a:p>
            <a:pPr lvl="0"/>
            <a:r>
              <a:rPr dirty="0"/>
              <a:t>Dump entire tables</a:t>
            </a:r>
          </a:p>
          <a:p>
            <a:pPr lvl="0"/>
            <a:r>
              <a:rPr dirty="0"/>
              <a:t>Modify records</a:t>
            </a:r>
          </a:p>
          <a:p>
            <a:pPr lvl="0"/>
            <a:r>
              <a:rPr dirty="0"/>
              <a:t>Delete data</a:t>
            </a:r>
          </a:p>
          <a:p>
            <a:pPr lvl="0"/>
            <a:r>
              <a:rPr dirty="0"/>
              <a:t>Escalate privileges</a:t>
            </a:r>
          </a:p>
          <a:p>
            <a:pPr lvl="0"/>
            <a:r>
              <a:rPr dirty="0"/>
              <a:t>Bypass authentication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C8AF7F-FC9B-B066-1269-118E10EAC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EBEBEB"/>
                </a:solidFill>
              </a:rPr>
              <a:t>Impact of SQL Injection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Why ORMs Help (But Not Always)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ORM Protection</a:t>
            </a:r>
          </a:p>
          <a:p>
            <a:pPr marL="0" lvl="0" indent="0">
              <a:buNone/>
            </a:pPr>
            <a:r>
              <a:rPr dirty="0"/>
              <a:t>Frameworks like:</a:t>
            </a:r>
          </a:p>
          <a:p>
            <a:pPr lvl="0"/>
            <a:r>
              <a:rPr dirty="0"/>
              <a:t>Hibernate</a:t>
            </a:r>
          </a:p>
          <a:p>
            <a:pPr lvl="0"/>
            <a:r>
              <a:rPr dirty="0"/>
              <a:t>JPA</a:t>
            </a:r>
          </a:p>
          <a:p>
            <a:pPr lvl="0"/>
            <a:r>
              <a:rPr dirty="0"/>
              <a:t>Spring Data</a:t>
            </a:r>
          </a:p>
          <a:p>
            <a:pPr marL="0" lvl="0" indent="0">
              <a:buNone/>
            </a:pPr>
            <a:r>
              <a:rPr dirty="0"/>
              <a:t>Use parameterized queries by default.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C2DC16-683C-020C-1EC8-7C11253AEA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They separate: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Query structure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Input values</a:t>
            </a:r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/>
              <a:t>This prevents classic injection.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Why ORMs Help (But Not Always)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When ORMs Still Fail</a:t>
            </a:r>
          </a:p>
          <a:p>
            <a:pPr marL="0" lvl="0" indent="0">
              <a:buNone/>
            </a:pPr>
            <a:r>
              <a:t>Injection still happens when:</a:t>
            </a:r>
          </a:p>
          <a:p>
            <a:pPr lvl="0"/>
            <a:r>
              <a:t>Native SQL queries are used.</a:t>
            </a:r>
          </a:p>
          <a:p>
            <a:pPr lvl="0"/>
            <a:r>
              <a:t>String concatenation is used.</a:t>
            </a:r>
          </a:p>
          <a:p>
            <a:pPr lvl="0"/>
            <a:r>
              <a:t>Dynamic query generation is unsafe.</a:t>
            </a:r>
          </a:p>
          <a:p>
            <a:pPr lvl="0"/>
            <a:r>
              <a:t>Stored procedures are misused.</a:t>
            </a:r>
          </a:p>
          <a:p>
            <a:pPr marL="0" lvl="0" indent="0">
              <a:buNone/>
            </a:pPr>
            <a:r>
              <a:t>Developers can bypass safety accidentally.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How Attackers Discover Injection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Discovery Techniques</a:t>
            </a:r>
          </a:p>
          <a:p>
            <a:pPr marL="0" lvl="0" indent="0">
              <a:buNone/>
            </a:pPr>
            <a:r>
              <a:rPr dirty="0"/>
              <a:t>Attackers try:</a:t>
            </a:r>
          </a:p>
          <a:p>
            <a:pPr lvl="0"/>
            <a:r>
              <a:rPr dirty="0"/>
              <a:t>Special characters</a:t>
            </a:r>
          </a:p>
          <a:p>
            <a:pPr lvl="0"/>
            <a:r>
              <a:rPr dirty="0"/>
              <a:t>Unexpected input sizes</a:t>
            </a:r>
          </a:p>
          <a:p>
            <a:pPr lvl="0"/>
            <a:r>
              <a:rPr dirty="0"/>
              <a:t>Error messages</a:t>
            </a:r>
          </a:p>
          <a:p>
            <a:pPr lvl="0"/>
            <a:r>
              <a:rPr dirty="0"/>
              <a:t>Timing changes</a:t>
            </a:r>
          </a:p>
          <a:p>
            <a:pPr lvl="0"/>
            <a:r>
              <a:rPr dirty="0"/>
              <a:t>Boolean logic changes</a:t>
            </a:r>
          </a:p>
          <a:p>
            <a:pPr marL="0" lvl="0" indent="0">
              <a:buNone/>
            </a:pPr>
            <a:r>
              <a:rPr dirty="0"/>
              <a:t>APIs often leak clues.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0726DB-16AD-F6AF-3D17-908FD8DC67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spcBef>
                <a:spcPts val="3000"/>
              </a:spcBef>
              <a:buNone/>
            </a:pPr>
            <a:r>
              <a:rPr lang="en-US" b="1" dirty="0"/>
              <a:t>Automation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Attack tools automatically: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Scan endpoints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Fuzz parameters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Detect vulnerabilities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Exploit at scale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Speed amplifies damage.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Baseline Defenses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1. Parameterized Queries</a:t>
            </a:r>
          </a:p>
          <a:p>
            <a:pPr marL="0" lvl="0" indent="0">
              <a:buNone/>
            </a:pPr>
            <a:r>
              <a:rPr dirty="0"/>
              <a:t>Never concatenate user input into queries.</a:t>
            </a:r>
          </a:p>
          <a:p>
            <a:pPr marL="0" lvl="0" indent="0">
              <a:buNone/>
            </a:pPr>
            <a:r>
              <a:rPr dirty="0"/>
              <a:t>Always bind parameters safely.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4B588E-2B34-0305-8ECC-AF2782C825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ts val="3000"/>
              </a:spcBef>
              <a:buNone/>
            </a:pPr>
            <a:r>
              <a:rPr lang="en-US" b="1" dirty="0"/>
              <a:t>2. Input Validation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Validate type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Validate length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Validate format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Reject unexpected data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Baseline Defenses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3. Least Privilege Database Access</a:t>
            </a:r>
          </a:p>
          <a:p>
            <a:pPr lvl="0"/>
            <a:r>
              <a:rPr dirty="0"/>
              <a:t>Application accounts should have limited permissions.</a:t>
            </a:r>
          </a:p>
          <a:p>
            <a:pPr lvl="0"/>
            <a:r>
              <a:rPr dirty="0"/>
              <a:t>Never use admin credentials.</a:t>
            </a:r>
          </a:p>
          <a:p>
            <a:pPr marL="0" indent="0">
              <a:spcBef>
                <a:spcPts val="3000"/>
              </a:spcBef>
              <a:buNone/>
            </a:pPr>
            <a:r>
              <a:rPr b="1" dirty="0"/>
              <a:t>4</a:t>
            </a:r>
            <a:r>
              <a:rPr lang="en-US" b="1" dirty="0"/>
              <a:t>. Error Handling</a:t>
            </a:r>
          </a:p>
          <a:p>
            <a:r>
              <a:rPr lang="en-US" dirty="0"/>
              <a:t>Do not expose database errors.</a:t>
            </a:r>
          </a:p>
          <a:p>
            <a:r>
              <a:rPr lang="en-US" dirty="0"/>
              <a:t>Log internally.</a:t>
            </a:r>
          </a:p>
          <a:p>
            <a:r>
              <a:rPr lang="en-US" dirty="0"/>
              <a:t>Return generic messages.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8AED68-D9B6-ABF1-9A3F-1EF59FC45C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spcBef>
                <a:spcPts val="3000"/>
              </a:spcBef>
              <a:buNone/>
            </a:pPr>
            <a:r>
              <a:rPr lang="en-US" sz="1500" b="1" dirty="0"/>
              <a:t>5. Monitoring</a:t>
            </a:r>
            <a:endParaRPr lang="en-US" sz="1500" dirty="0">
              <a:solidFill>
                <a:srgbClr val="000000"/>
              </a:solidFill>
            </a:endParaRPr>
          </a:p>
          <a:p>
            <a:r>
              <a:rPr lang="en-US" sz="1500" dirty="0"/>
              <a:t>Detect unusual query behavior.</a:t>
            </a:r>
            <a:endParaRPr lang="en-US" sz="1500" dirty="0">
              <a:solidFill>
                <a:srgbClr val="000000"/>
              </a:solidFill>
            </a:endParaRPr>
          </a:p>
          <a:p>
            <a:r>
              <a:rPr lang="en-US" sz="1500" dirty="0"/>
              <a:t>Alert on anomalies.</a:t>
            </a:r>
            <a:endParaRPr lang="en-US" sz="1500" dirty="0">
              <a:solidFill>
                <a:srgbClr val="000000"/>
              </a:solidFill>
            </a:endParaRPr>
          </a:p>
          <a:p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Security vs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Does Security Slow Systems?</a:t>
            </a:r>
          </a:p>
          <a:p>
            <a:pPr lvl="0"/>
            <a:r>
              <a:rPr dirty="0"/>
              <a:t>Parameter binding adds minimal overhead.</a:t>
            </a:r>
          </a:p>
          <a:p>
            <a:pPr lvl="0"/>
            <a:r>
              <a:rPr dirty="0"/>
              <a:t>Validation costs CPU.</a:t>
            </a:r>
          </a:p>
          <a:p>
            <a:pPr lvl="0"/>
            <a:r>
              <a:rPr dirty="0"/>
              <a:t>Logging increases I/O.</a:t>
            </a:r>
          </a:p>
          <a:p>
            <a:pPr marL="0" lvl="0" indent="0">
              <a:buNone/>
            </a:pPr>
            <a:r>
              <a:rPr dirty="0"/>
              <a:t>Usually negligible compared to network latency.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4BF5E1-27B4-7780-05A1-F079B378EC9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ts val="3000"/>
              </a:spcBef>
              <a:buNone/>
            </a:pPr>
            <a:r>
              <a:rPr lang="en-US" b="1" dirty="0"/>
              <a:t>The Real Tradeoff</a:t>
            </a:r>
            <a:endParaRPr lang="en-US">
              <a:solidFill>
                <a:srgbClr val="000000"/>
              </a:solidFill>
            </a:endParaRPr>
          </a:p>
          <a:p>
            <a:r>
              <a:rPr lang="en-US" dirty="0"/>
              <a:t>Poorly designed </a:t>
            </a:r>
            <a:r>
              <a:rPr lang="en-US" dirty="0" err="1"/>
              <a:t>securitycan</a:t>
            </a:r>
            <a:r>
              <a:rPr lang="en-US" dirty="0"/>
              <a:t> slow systems.</a:t>
            </a:r>
            <a:endParaRPr lang="en-US">
              <a:solidFill>
                <a:srgbClr val="000000"/>
              </a:solidFill>
            </a:endParaRPr>
          </a:p>
          <a:p>
            <a:r>
              <a:rPr lang="en-US" dirty="0"/>
              <a:t>Correct security is </a:t>
            </a:r>
            <a:r>
              <a:rPr lang="en-US" dirty="0" err="1"/>
              <a:t>usuallycheap</a:t>
            </a:r>
            <a:r>
              <a:rPr lang="en-US" dirty="0"/>
              <a:t>.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Breaches are </a:t>
            </a:r>
            <a:r>
              <a:rPr lang="en-US" dirty="0" err="1"/>
              <a:t>extremelyexpensive</a:t>
            </a:r>
            <a:r>
              <a:rPr lang="en-US" dirty="0"/>
              <a:t>.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What We Will Do Practically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Next Video Plan</a:t>
            </a:r>
          </a:p>
          <a:p>
            <a:pPr marL="342900" lvl="0" indent="-342900">
              <a:buAutoNum type="arabicPeriod"/>
            </a:pPr>
            <a:r>
              <a:t>Build a vulnerable endpoint.</a:t>
            </a:r>
          </a:p>
          <a:p>
            <a:pPr marL="342900" lvl="0" indent="-342900">
              <a:buAutoNum type="arabicPeriod"/>
            </a:pPr>
            <a:r>
              <a:t>Execute a controlled SQL injection attack.</a:t>
            </a:r>
          </a:p>
          <a:p>
            <a:pPr marL="342900" lvl="0" indent="-342900">
              <a:buAutoNum type="arabicPeriod"/>
            </a:pPr>
            <a:r>
              <a:t>Observe the impact.</a:t>
            </a:r>
          </a:p>
          <a:p>
            <a:pPr marL="342900" lvl="0" indent="-342900">
              <a:buAutoNum type="arabicPeriod"/>
            </a:pPr>
            <a:r>
              <a:t>Fix using parameter binding and validation.</a:t>
            </a:r>
          </a:p>
          <a:p>
            <a:pPr marL="342900" lvl="0" indent="-342900">
              <a:buAutoNum type="arabicPeriod"/>
            </a:pPr>
            <a:r>
              <a:t>Re-test the attack.</a:t>
            </a:r>
          </a:p>
          <a:p>
            <a:pPr marL="342900" lvl="0" indent="-342900">
              <a:buAutoNum type="arabicPeriod"/>
            </a:pPr>
            <a:r>
              <a:t>Measure behavior.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Key Takeaways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Injection attacks occur when input becomes code.</a:t>
            </a:r>
          </a:p>
          <a:p>
            <a:pPr lvl="0"/>
            <a:r>
              <a:t>SQL injection is the most common form.</a:t>
            </a:r>
          </a:p>
          <a:p>
            <a:pPr lvl="0"/>
            <a:r>
              <a:t>ORMs help but do not guarantee safety.</a:t>
            </a:r>
          </a:p>
          <a:p>
            <a:pPr lvl="0"/>
            <a:r>
              <a:t>Defenses are simple but must be consistent.</a:t>
            </a:r>
          </a:p>
          <a:p>
            <a:pPr lvl="0"/>
            <a:r>
              <a:t>Practical validation is critical.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Ion Boardroom</vt:lpstr>
      <vt:lpstr>Injection Attacks in APIs</vt:lpstr>
      <vt:lpstr>Lesson Context</vt:lpstr>
      <vt:lpstr>Learning Objectives</vt:lpstr>
      <vt:lpstr>What Is an Injection Attack?</vt:lpstr>
      <vt:lpstr>Why Injection Is Dangerous</vt:lpstr>
      <vt:lpstr>Root Cause</vt:lpstr>
      <vt:lpstr>Common Types of Injection</vt:lpstr>
      <vt:lpstr>Common Types of Injection</vt:lpstr>
      <vt:lpstr>Focus: SQL Injection</vt:lpstr>
      <vt:lpstr>Vulnerable Example (Conceptual)</vt:lpstr>
      <vt:lpstr>Vulnerable Example (Conceptual)</vt:lpstr>
      <vt:lpstr>Impact of SQL Injection</vt:lpstr>
      <vt:lpstr>Why ORMs Help (But Not Always)</vt:lpstr>
      <vt:lpstr>Why ORMs Help (But Not Always)</vt:lpstr>
      <vt:lpstr>How Attackers Discover Injection</vt:lpstr>
      <vt:lpstr>Baseline Defenses</vt:lpstr>
      <vt:lpstr>Baseline Defenses</vt:lpstr>
      <vt:lpstr>Security vs Performance</vt:lpstr>
      <vt:lpstr>What We Will Do Practically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Injection Attacks in APIs</dc:title>
  <dc:creator>Ngane Emmanuel</dc:creator>
  <cp:keywords/>
  <cp:revision>67</cp:revision>
  <dcterms:created xsi:type="dcterms:W3CDTF">2026-01-17T23:24:24Z</dcterms:created>
  <dcterms:modified xsi:type="dcterms:W3CDTF">2026-01-18T09:49:56Z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2026-01-17</vt:lpwstr>
  </property>
  <property fmtid="{D5CDD505-2E9C-101B-9397-08002B2CF9AE}" pid="3" name="output">
    <vt:lpwstr/>
  </property>
  <property fmtid="{D5CDD505-2E9C-101B-9397-08002B2CF9AE}" pid="4" name="subtitle">
    <vt:lpwstr>Building Secure, Scalable, Fault-Tolerant and Low-Latency APIs with Java &amp; Spring Boot</vt:lpwstr>
  </property>
</Properties>
</file>