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8B365C-6346-412B-8BBA-245171B23BEB}" v="200" dt="2026-01-20T17:43:42.3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25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38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512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64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768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689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02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619239" y="1344169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713982" y="2420874"/>
            <a:ext cx="2894846" cy="2286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4406" y="221797"/>
            <a:ext cx="628649" cy="57576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810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25622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999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008234"/>
            <a:ext cx="3263269" cy="1712868"/>
          </a:xfrm>
        </p:spPr>
        <p:txBody>
          <a:bodyPr anchor="ctr"/>
          <a:lstStyle>
            <a:lvl1pPr algn="l">
              <a:defRPr sz="7111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70" y="2008233"/>
            <a:ext cx="2818159" cy="1712868"/>
          </a:xfrm>
        </p:spPr>
        <p:txBody>
          <a:bodyPr anchor="ctr"/>
          <a:lstStyle>
            <a:lvl1pPr marL="0" indent="0" algn="l">
              <a:buNone/>
              <a:defRPr sz="3556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854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3618869" cy="256222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3618869" cy="256222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422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3618868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/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5" y="1952625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/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5" y="2384822"/>
            <a:ext cx="3618869" cy="2130029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434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35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172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1550"/>
            <a:ext cx="2094869" cy="1200150"/>
          </a:xfrm>
        </p:spPr>
        <p:txBody>
          <a:bodyPr anchor="b"/>
          <a:lstStyle>
            <a:lvl1pPr algn="l">
              <a:defRPr sz="4267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59" y="1085850"/>
            <a:ext cx="3892550" cy="34290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5" y="2346961"/>
            <a:ext cx="2094869" cy="2171699"/>
          </a:xfrm>
        </p:spPr>
        <p:txBody>
          <a:bodyPr/>
          <a:lstStyle>
            <a:lvl1pPr marL="0" indent="0">
              <a:buNone/>
              <a:defRPr sz="2489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253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270000"/>
            <a:ext cx="2898851" cy="1301750"/>
          </a:xfrm>
        </p:spPr>
        <p:txBody>
          <a:bodyPr anchor="b">
            <a:normAutofit/>
          </a:bodyPr>
          <a:lstStyle>
            <a:lvl1pPr algn="l">
              <a:defRPr sz="6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2489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927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3727445"/>
            <a:ext cx="6619244" cy="425054"/>
          </a:xfrm>
        </p:spPr>
        <p:txBody>
          <a:bodyPr anchor="b">
            <a:normAutofit/>
          </a:bodyPr>
          <a:lstStyle>
            <a:lvl1pPr algn="l">
              <a:defRPr sz="4267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4152499"/>
            <a:ext cx="6619244" cy="370284"/>
          </a:xfrm>
        </p:spPr>
        <p:txBody>
          <a:bodyPr>
            <a:normAutofit/>
          </a:bodyPr>
          <a:lstStyle>
            <a:lvl1pPr marL="0" indent="0">
              <a:buNone/>
              <a:defRPr sz="2133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194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598" y="797563"/>
            <a:ext cx="6623862" cy="1029740"/>
          </a:xfrm>
        </p:spPr>
        <p:txBody>
          <a:bodyPr/>
          <a:lstStyle>
            <a:lvl1pPr>
              <a:defRPr sz="711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3200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365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661175" y="455502"/>
            <a:ext cx="601434" cy="2718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67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7413344" y="1960340"/>
            <a:ext cx="489572" cy="2718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67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08" y="736600"/>
            <a:ext cx="6340430" cy="2022474"/>
          </a:xfrm>
        </p:spPr>
        <p:txBody>
          <a:bodyPr/>
          <a:lstStyle>
            <a:lvl1pPr>
              <a:defRPr sz="711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59074"/>
            <a:ext cx="5798414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2489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771899"/>
            <a:ext cx="6933673" cy="748393"/>
          </a:xfrm>
        </p:spPr>
        <p:txBody>
          <a:bodyPr anchor="ctr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1171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778000"/>
            <a:ext cx="6619245" cy="1366886"/>
          </a:xfrm>
        </p:spPr>
        <p:txBody>
          <a:bodyPr anchor="b"/>
          <a:lstStyle>
            <a:lvl1pPr algn="l">
              <a:defRPr sz="7111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768725"/>
            <a:ext cx="6619244" cy="645300"/>
          </a:xfrm>
        </p:spPr>
        <p:txBody>
          <a:bodyPr anchor="t"/>
          <a:lstStyle>
            <a:lvl1pPr marL="0" indent="0" algn="l">
              <a:buNone/>
              <a:defRPr sz="3556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8066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6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1952626"/>
            <a:ext cx="235640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5" y="2384823"/>
            <a:ext cx="2356409" cy="2135470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2625"/>
            <a:ext cx="2360257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84823"/>
            <a:ext cx="2360257" cy="2135470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6101" y="1952626"/>
            <a:ext cx="2359298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6247" y="2384822"/>
            <a:ext cx="2359152" cy="2135470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3866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6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3399633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5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0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649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7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7629" y="3831829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082" y="3399634"/>
            <a:ext cx="2288321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081" y="3831828"/>
            <a:ext cx="2288322" cy="68846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304373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848352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20833" y="4793879"/>
            <a:ext cx="2733212" cy="2286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370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1952625"/>
            <a:ext cx="6619244" cy="2562225"/>
          </a:xfrm>
        </p:spPr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21580" y="4793879"/>
            <a:ext cx="742949" cy="2285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5980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27" y="958850"/>
            <a:ext cx="1057474" cy="3561443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958850"/>
            <a:ext cx="4692019" cy="356144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9829" y="4793879"/>
            <a:ext cx="744101" cy="2285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102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6" y="730251"/>
            <a:ext cx="6571060" cy="530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8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8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4978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839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157759"/>
            <a:ext cx="6619244" cy="2008236"/>
          </a:xfrm>
        </p:spPr>
        <p:txBody>
          <a:bodyPr/>
          <a:lstStyle/>
          <a:p>
            <a:pPr marL="0" lvl="0" indent="0">
              <a:buNone/>
            </a:pPr>
            <a:r>
              <a:rPr sz="4000" dirty="0"/>
              <a:t>Authorization &amp; Access Control: Controlling Who Can Do What in Your API</a:t>
            </a:r>
            <a:endParaRPr lang="en-US" sz="40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343623"/>
            <a:ext cx="6619244" cy="646065"/>
          </a:xfrm>
        </p:spPr>
        <p:txBody>
          <a:bodyPr/>
          <a:lstStyle/>
          <a:p>
            <a:pPr marL="0" lvl="0" indent="0">
              <a:buNone/>
            </a:pPr>
            <a:r>
              <a:t>Building Secure, Scalable, Fault-Tolerant and Low-Latency APIs with Java &amp; Spring Boot</a:t>
            </a:r>
            <a:br/>
            <a:br/>
            <a:r>
              <a:t>Ngane Emmanuel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2026-01-20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Lesson Context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Why Authorization Matters</a:t>
            </a:r>
          </a:p>
          <a:p>
            <a:r>
              <a:rPr dirty="0"/>
              <a:t>Authentication verifies identity.</a:t>
            </a:r>
            <a:endParaRPr lang="en-US" dirty="0"/>
          </a:p>
          <a:p>
            <a:pPr lvl="0"/>
            <a:r>
              <a:rPr dirty="0"/>
              <a:t>Authorization controls permissions.</a:t>
            </a:r>
          </a:p>
          <a:p>
            <a:pPr marL="0" indent="0">
              <a:buNone/>
            </a:pPr>
            <a:r>
              <a:rPr dirty="0"/>
              <a:t>A secure system must ensure: </a:t>
            </a:r>
            <a:endParaRPr lang="en-US" dirty="0"/>
          </a:p>
          <a:p>
            <a:r>
              <a:rPr dirty="0"/>
              <a:t>Users can only access what they are allowed to.</a:t>
            </a:r>
            <a:endParaRPr lang="en-US" dirty="0"/>
          </a:p>
          <a:p>
            <a:r>
              <a:rPr lang="en-US" dirty="0"/>
              <a:t> </a:t>
            </a:r>
            <a:r>
              <a:rPr dirty="0"/>
              <a:t>Privileged operations are protected. </a:t>
            </a:r>
            <a:endParaRPr lang="en-US" dirty="0"/>
          </a:p>
          <a:p>
            <a:r>
              <a:rPr dirty="0"/>
              <a:t>Data exposure is minimized.</a:t>
            </a:r>
          </a:p>
          <a:p>
            <a:pPr marL="0" lvl="0" indent="0">
              <a:buNone/>
            </a:pPr>
            <a:r>
              <a:rPr dirty="0"/>
              <a:t>Most real-world breaches are authorization failures.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Learning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By the end of this lesson:</a:t>
            </a:r>
          </a:p>
          <a:p>
            <a:pPr lvl="0"/>
            <a:r>
              <a:t>Understand authorization concepts.</a:t>
            </a:r>
          </a:p>
          <a:p>
            <a:pPr lvl="0"/>
            <a:r>
              <a:t>Learn access control models.</a:t>
            </a:r>
          </a:p>
          <a:p>
            <a:pPr lvl="0"/>
            <a:r>
              <a:t>Identify common vulnerabilities.</a:t>
            </a:r>
          </a:p>
          <a:p>
            <a:pPr lvl="0"/>
            <a:r>
              <a:t>Design secure permission systems.</a:t>
            </a:r>
          </a:p>
          <a:p>
            <a:pPr lvl="0"/>
            <a:r>
              <a:t>Prepare for Spring Security implementation.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What Is Authorization?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Definition</a:t>
            </a:r>
          </a:p>
          <a:p>
            <a:pPr marL="0" lvl="0" indent="0">
              <a:buNone/>
            </a:pPr>
            <a:r>
              <a:rPr dirty="0"/>
              <a:t>Authorization determines what actions an authenticated user is allowed to perform.</a:t>
            </a:r>
          </a:p>
          <a:p>
            <a:pPr marL="0" lvl="0" indent="0">
              <a:buNone/>
            </a:pPr>
            <a:r>
              <a:rPr dirty="0"/>
              <a:t>It answers: &gt; </a:t>
            </a:r>
            <a:r>
              <a:rPr b="1" dirty="0"/>
              <a:t>“What can this user do?”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F14A47-5BCC-7257-DC3B-3DD968402B8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ts val="3000"/>
              </a:spcBef>
              <a:buNone/>
            </a:pPr>
            <a:r>
              <a:rPr lang="en-US" b="1" dirty="0"/>
              <a:t>Authorization vs Authentication</a:t>
            </a:r>
            <a:endParaRPr lang="en-US">
              <a:solidFill>
                <a:srgbClr val="000000"/>
              </a:solidFill>
            </a:endParaRPr>
          </a:p>
          <a:p>
            <a:r>
              <a:rPr lang="en-US" dirty="0"/>
              <a:t>Authentication → Who you are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Authorization → What you can access</a:t>
            </a:r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/>
              <a:t>Authorization always happens after authentication.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Permissions &amp; Roles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Permissions</a:t>
            </a:r>
          </a:p>
          <a:p>
            <a:pPr marL="0" lvl="0" indent="0">
              <a:buNone/>
            </a:pPr>
            <a:r>
              <a:rPr dirty="0"/>
              <a:t>A permission represents an allowed action.</a:t>
            </a:r>
          </a:p>
          <a:p>
            <a:pPr marL="0" indent="0">
              <a:buNone/>
            </a:pPr>
            <a:r>
              <a:rPr b="1" dirty="0"/>
              <a:t>Examples</a:t>
            </a:r>
            <a:r>
              <a:rPr dirty="0"/>
              <a:t>: </a:t>
            </a:r>
            <a:r>
              <a:rPr lang="en-US" dirty="0"/>
              <a:t> </a:t>
            </a:r>
          </a:p>
          <a:p>
            <a:pPr marL="285750" indent="-285750"/>
            <a:r>
              <a:rPr dirty="0"/>
              <a:t>READ_USER </a:t>
            </a:r>
            <a:endParaRPr lang="en-US" dirty="0"/>
          </a:p>
          <a:p>
            <a:pPr marL="285750" indent="-285750"/>
            <a:r>
              <a:rPr dirty="0"/>
              <a:t>CREATE_ORDER </a:t>
            </a:r>
            <a:endParaRPr lang="en-US" dirty="0"/>
          </a:p>
          <a:p>
            <a:pPr marL="285750" indent="-285750"/>
            <a:r>
              <a:rPr dirty="0"/>
              <a:t>DELETE_PRODUCT</a:t>
            </a:r>
          </a:p>
          <a:p>
            <a:pPr marL="0" lvl="0" indent="0">
              <a:buNone/>
            </a:pPr>
            <a:r>
              <a:rPr dirty="0"/>
              <a:t>Permissions are fine-grained.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33A6A8-31DA-933B-E375-E8F71ADDC7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spcBef>
                <a:spcPts val="3000"/>
              </a:spcBef>
              <a:buNone/>
            </a:pPr>
            <a:r>
              <a:rPr lang="en-US" b="1" dirty="0"/>
              <a:t>Roles</a:t>
            </a:r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/>
              <a:t>A role groups permissions.</a:t>
            </a:r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b="1" dirty="0"/>
              <a:t>Examples</a:t>
            </a:r>
            <a:r>
              <a:rPr lang="en-US" dirty="0"/>
              <a:t>: </a:t>
            </a:r>
            <a:endParaRPr lang="en-US">
              <a:solidFill>
                <a:srgbClr val="000000"/>
              </a:solidFill>
            </a:endParaRPr>
          </a:p>
          <a:p>
            <a:r>
              <a:rPr lang="en-US" dirty="0"/>
              <a:t>ADMIN 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USER SUPPORT</a:t>
            </a:r>
            <a:endParaRPr lang="en-US">
              <a:solidFill>
                <a:srgbClr val="000000"/>
              </a:solidFill>
            </a:endParaRPr>
          </a:p>
          <a:p>
            <a:r>
              <a:rPr lang="en-US" dirty="0"/>
              <a:t>SUPPORT</a:t>
            </a:r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/>
              <a:t>Roles simplify management.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sz="33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Role Example</a:t>
            </a:r>
            <a:endParaRPr lang="en-US" sz="33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spcBef>
                <a:spcPct val="20000"/>
              </a:spcBef>
              <a:buFont typeface="Wingdings 3"/>
              <a:buChar char=""/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ADMIN: </a:t>
            </a:r>
            <a:endParaRPr lang="en-US" sz="2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1">
              <a:spcBef>
                <a:spcPct val="20000"/>
              </a:spcBef>
              <a:buFont typeface="Courier New"/>
              <a:buChar char="o"/>
            </a:pPr>
            <a:r>
              <a:rPr sz="2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CREATE_USER </a:t>
            </a:r>
            <a:endParaRPr lang="en-US" sz="2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1">
              <a:spcBef>
                <a:spcPct val="20000"/>
              </a:spcBef>
              <a:buFont typeface="Courier New"/>
              <a:buChar char="o"/>
            </a:pPr>
            <a:r>
              <a:rPr sz="2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DELETE_USER </a:t>
            </a:r>
            <a:endParaRPr lang="en-US" sz="2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1">
              <a:spcBef>
                <a:spcPct val="20000"/>
              </a:spcBef>
              <a:buFont typeface="Courier New"/>
              <a:buChar char="o"/>
            </a:pPr>
            <a:r>
              <a:rPr sz="2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VIEW_REPORTS</a:t>
            </a:r>
            <a:endParaRPr lang="en-US" sz="2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ct val="20000"/>
              </a:spcBef>
              <a:buFont typeface="Wingdings 3"/>
              <a:buChar char=""/>
            </a:pPr>
            <a:r>
              <a:rPr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USER: </a:t>
            </a:r>
            <a:endParaRPr lang="en-US" sz="2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1">
              <a:spcBef>
                <a:spcPct val="20000"/>
              </a:spcBef>
              <a:buFont typeface="Courier New"/>
              <a:buChar char="o"/>
            </a:pPr>
            <a:r>
              <a:rPr sz="2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VIEW_PROFILE </a:t>
            </a:r>
            <a:endParaRPr lang="en-US" sz="1800" dirty="0">
              <a:solidFill>
                <a:srgbClr val="404040"/>
              </a:solidFill>
              <a:latin typeface="Century Gothic" panose="020B0502020202020204"/>
              <a:ea typeface="Calibri"/>
              <a:cs typeface="Calibri"/>
            </a:endParaRPr>
          </a:p>
          <a:p>
            <a:pPr lvl="1">
              <a:spcBef>
                <a:spcPct val="20000"/>
              </a:spcBef>
              <a:buFont typeface="Courier New"/>
              <a:buChar char="o"/>
            </a:pPr>
            <a:r>
              <a:rPr sz="2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CREATE_ORDER</a:t>
            </a:r>
            <a:endParaRPr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Access Control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0">
              <a:spcBef>
                <a:spcPts val="3000"/>
              </a:spcBef>
            </a:pPr>
            <a:r>
              <a:rPr b="1" dirty="0"/>
              <a:t>Role-Based Access Control (RBAC)</a:t>
            </a:r>
            <a:endParaRPr lang="en-US" dirty="0"/>
          </a:p>
          <a:p>
            <a:pPr marL="0" lvl="0" indent="0">
              <a:buNone/>
            </a:pPr>
            <a:r>
              <a:rPr dirty="0"/>
              <a:t>Users are assigned roles. Roles grant permissions.</a:t>
            </a:r>
          </a:p>
          <a:p>
            <a:pPr marL="0" lvl="0" indent="0">
              <a:buNone/>
            </a:pPr>
            <a:r>
              <a:rPr dirty="0"/>
              <a:t>Simple and widely used.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F84EE1-5D4F-D714-5D91-AA33A0D0472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3000"/>
              </a:spcBef>
            </a:pPr>
            <a:r>
              <a:rPr lang="en-US" b="1" dirty="0"/>
              <a:t>Attribute-Based Access Control (ABAC)</a:t>
            </a:r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/>
              <a:t>Decisions based on attributes:</a:t>
            </a:r>
            <a:endParaRPr lang="en-US" dirty="0">
              <a:solidFill>
                <a:srgbClr val="000000"/>
              </a:solidFill>
            </a:endParaRPr>
          </a:p>
          <a:p>
            <a:pPr lvl="1">
              <a:buFont typeface="Courier New" charset="2"/>
              <a:buChar char="o"/>
            </a:pPr>
            <a:r>
              <a:rPr lang="en-US" dirty="0"/>
              <a:t>User attributes</a:t>
            </a:r>
            <a:endParaRPr lang="en-US" dirty="0">
              <a:solidFill>
                <a:srgbClr val="000000"/>
              </a:solidFill>
            </a:endParaRPr>
          </a:p>
          <a:p>
            <a:pPr lvl="1">
              <a:buFont typeface="Courier New" charset="2"/>
              <a:buChar char="o"/>
            </a:pPr>
            <a:r>
              <a:rPr lang="en-US" dirty="0"/>
              <a:t>Resource attributes</a:t>
            </a:r>
            <a:endParaRPr lang="en-US" dirty="0">
              <a:solidFill>
                <a:srgbClr val="000000"/>
              </a:solidFill>
            </a:endParaRPr>
          </a:p>
          <a:p>
            <a:pPr lvl="1">
              <a:buFont typeface="Courier New" charset="2"/>
              <a:buChar char="o"/>
            </a:pPr>
            <a:r>
              <a:rPr lang="en-US" dirty="0"/>
              <a:t> Environment conditions</a:t>
            </a:r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/>
              <a:t>More flexible, more complex.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Access Control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0">
              <a:spcBef>
                <a:spcPts val="3000"/>
              </a:spcBef>
            </a:pPr>
            <a:r>
              <a:rPr b="1" dirty="0"/>
              <a:t>Policy-Based Access Control</a:t>
            </a:r>
            <a:endParaRPr lang="en-US" dirty="0"/>
          </a:p>
          <a:p>
            <a:pPr marL="0" lvl="0" indent="0">
              <a:buNone/>
            </a:pPr>
            <a:r>
              <a:rPr dirty="0"/>
              <a:t>Centralized policies define access rules.</a:t>
            </a:r>
          </a:p>
          <a:p>
            <a:pPr marL="0" lvl="0" indent="0">
              <a:buNone/>
            </a:pPr>
            <a:r>
              <a:rPr dirty="0"/>
              <a:t>Used in large distributed systems.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Where Authorization Happens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API Layers</a:t>
            </a:r>
          </a:p>
          <a:p>
            <a:pPr marL="0" lvl="0" indent="0">
              <a:buNone/>
            </a:pPr>
            <a:r>
              <a:t>Authorization should occur:</a:t>
            </a:r>
          </a:p>
          <a:p>
            <a:pPr lvl="0"/>
            <a:r>
              <a:t>At controller level (endpoint protection)</a:t>
            </a:r>
          </a:p>
          <a:p>
            <a:pPr lvl="0"/>
            <a:r>
              <a:t>At service level (business rules)</a:t>
            </a:r>
          </a:p>
          <a:p>
            <a:pPr lvl="0"/>
            <a:r>
              <a:t>Sometimes at database level</a:t>
            </a:r>
          </a:p>
          <a:p>
            <a:pPr marL="0" lvl="0" indent="0">
              <a:buNone/>
            </a:pPr>
            <a:r>
              <a:t>Never trust client-side enforcement.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Common Authorization Vulnerabilities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85750" lvl="0" indent="-285750">
              <a:spcBef>
                <a:spcPts val="3000"/>
              </a:spcBef>
            </a:pPr>
            <a:r>
              <a:rPr sz="1500" b="1" dirty="0"/>
              <a:t>Broken Access Control</a:t>
            </a:r>
            <a:endParaRPr lang="en-US" sz="1500" dirty="0"/>
          </a:p>
          <a:p>
            <a:pPr marL="0" lvl="0" indent="0">
              <a:buNone/>
            </a:pPr>
            <a:r>
              <a:rPr sz="1500" dirty="0"/>
              <a:t>Users access resources they should not.</a:t>
            </a:r>
          </a:p>
          <a:p>
            <a:pPr marL="0" indent="0">
              <a:buNone/>
            </a:pPr>
            <a:r>
              <a:rPr sz="1500" dirty="0"/>
              <a:t>Examples: </a:t>
            </a:r>
            <a:endParaRPr lang="en-US" sz="1500" dirty="0"/>
          </a:p>
          <a:p>
            <a:pPr marL="685800" lvl="1" indent="-285750">
              <a:buFont typeface="Courier New" charset="2"/>
              <a:buChar char="o"/>
            </a:pPr>
            <a:r>
              <a:rPr sz="1300" dirty="0"/>
              <a:t>Accessing another user’s data </a:t>
            </a:r>
            <a:endParaRPr lang="en-US" sz="1300"/>
          </a:p>
          <a:p>
            <a:pPr marL="685800" lvl="1" indent="-285750">
              <a:buFont typeface="Courier New" charset="2"/>
              <a:buChar char="o"/>
            </a:pPr>
            <a:r>
              <a:rPr sz="1300" dirty="0"/>
              <a:t>Calling admin endpoints</a:t>
            </a:r>
          </a:p>
          <a:p>
            <a:pPr marL="0" lvl="0" indent="0">
              <a:spcBef>
                <a:spcPts val="3000"/>
              </a:spcBef>
              <a:buNone/>
            </a:pPr>
            <a:endParaRPr sz="1500" b="1" dirty="0">
              <a:latin typeface="Century Gothic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316EF-2DA8-0E39-D56C-6F1058B890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3000"/>
              </a:spcBef>
            </a:pPr>
            <a:r>
              <a:rPr lang="en-US" sz="1500" b="1" dirty="0"/>
              <a:t>Insecure Direct Object Reference (IDOR)</a:t>
            </a:r>
            <a:endParaRPr lang="en-US" sz="150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500" dirty="0"/>
              <a:t>Manipulating IDs in URLs to access unauthorized data.</a:t>
            </a:r>
            <a:endParaRPr lang="en-US" sz="15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500" b="1" dirty="0"/>
              <a:t>Example</a:t>
            </a:r>
            <a:r>
              <a:rPr lang="en-US" sz="1500" dirty="0"/>
              <a:t>:</a:t>
            </a:r>
            <a:endParaRPr lang="en-US" sz="1500" dirty="0">
              <a:solidFill>
                <a:srgbClr val="000000"/>
              </a:solidFill>
              <a:latin typeface="Courier"/>
            </a:endParaRPr>
          </a:p>
          <a:p>
            <a:pPr marL="0" indent="0">
              <a:buNone/>
            </a:pPr>
            <a:br>
              <a:rPr lang="en-US" sz="1500" dirty="0">
                <a:solidFill>
                  <a:srgbClr val="000000"/>
                </a:solidFill>
                <a:latin typeface="Courier"/>
              </a:rPr>
            </a:br>
            <a:r>
              <a:rPr lang="en-US" sz="1500" dirty="0">
                <a:solidFill>
                  <a:srgbClr val="C00000"/>
                </a:solidFill>
                <a:latin typeface="Courier"/>
              </a:rPr>
              <a:t>/users/123 → /users/124</a:t>
            </a:r>
            <a:br>
              <a:rPr lang="en-US" sz="15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"/>
              </a:rPr>
            </a:br>
            <a:endParaRPr lang="en-US" sz="1500">
              <a:solidFill>
                <a:srgbClr val="000000"/>
              </a:solidFill>
              <a:latin typeface="Couri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Common Authorization Vulnerabilities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lvl="0" indent="-285750">
              <a:spcBef>
                <a:spcPts val="3000"/>
              </a:spcBef>
            </a:pPr>
            <a:r>
              <a:rPr b="1" dirty="0"/>
              <a:t>Over-Privileged Roles</a:t>
            </a:r>
            <a:endParaRPr lang="en-US" dirty="0"/>
          </a:p>
          <a:p>
            <a:pPr marL="0" lvl="0" indent="0">
              <a:buNone/>
            </a:pPr>
            <a:r>
              <a:rPr dirty="0"/>
              <a:t>Users receive more permissions than needed.</a:t>
            </a:r>
          </a:p>
          <a:p>
            <a:pPr marL="0" lvl="0" indent="0">
              <a:buNone/>
            </a:pPr>
            <a:r>
              <a:rPr dirty="0"/>
              <a:t>Violates least privilege principle.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Authorization Best Practices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Defense Strategies</a:t>
            </a:r>
          </a:p>
          <a:p>
            <a:pPr lvl="0"/>
            <a:r>
              <a:t>Enforce least privilege</a:t>
            </a:r>
          </a:p>
          <a:p>
            <a:pPr lvl="0"/>
            <a:r>
              <a:t>Validate ownership</a:t>
            </a:r>
          </a:p>
          <a:p>
            <a:pPr lvl="0"/>
            <a:r>
              <a:t>Use centralized policies</a:t>
            </a:r>
          </a:p>
          <a:p>
            <a:pPr lvl="0"/>
            <a:r>
              <a:t>Log authorization failures</a:t>
            </a:r>
          </a:p>
          <a:p>
            <a:pPr lvl="0"/>
            <a:r>
              <a:t>Perform regular audits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Design for Scalability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Future Growth</a:t>
            </a:r>
          </a:p>
          <a:p>
            <a:pPr marL="0" indent="0">
              <a:buNone/>
            </a:pPr>
            <a:r>
              <a:rPr dirty="0"/>
              <a:t>Authorization systems must: </a:t>
            </a:r>
            <a:endParaRPr lang="en-US" dirty="0"/>
          </a:p>
          <a:p>
            <a:pPr marL="285750" indent="-285750"/>
            <a:r>
              <a:rPr dirty="0"/>
              <a:t>Support new roles</a:t>
            </a:r>
            <a:endParaRPr lang="en-US" dirty="0"/>
          </a:p>
          <a:p>
            <a:pPr marL="285750" indent="-285750"/>
            <a:r>
              <a:rPr lang="en-US" dirty="0"/>
              <a:t>Support new permissions </a:t>
            </a:r>
            <a:endParaRPr lang="en-US"/>
          </a:p>
          <a:p>
            <a:pPr marL="285750" indent="-285750"/>
            <a:r>
              <a:rPr dirty="0"/>
              <a:t>Avoid hardcoded logic</a:t>
            </a:r>
          </a:p>
          <a:p>
            <a:pPr marL="0" lvl="0" indent="0">
              <a:buNone/>
            </a:pPr>
            <a:r>
              <a:rPr dirty="0"/>
              <a:t>Design early.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What Comes Next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Practical Implementation</a:t>
            </a:r>
          </a:p>
          <a:p>
            <a:pPr lvl="0"/>
            <a:r>
              <a:rPr dirty="0"/>
              <a:t>Implement role-based access in Spring Boot</a:t>
            </a:r>
          </a:p>
          <a:p>
            <a:pPr lvl="0"/>
            <a:r>
              <a:rPr dirty="0"/>
              <a:t>Protect endpoints</a:t>
            </a:r>
          </a:p>
          <a:p>
            <a:pPr lvl="0"/>
            <a:r>
              <a:rPr dirty="0"/>
              <a:t>Demonstrate IDOR attack</a:t>
            </a:r>
          </a:p>
          <a:p>
            <a:pPr lvl="0"/>
            <a:r>
              <a:rPr dirty="0"/>
              <a:t>Apply fixes 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Ion Boardroom</vt:lpstr>
      <vt:lpstr>Authorization &amp; Access Control: Controlling Who Can Do What in Your API</vt:lpstr>
      <vt:lpstr>Lesson Context</vt:lpstr>
      <vt:lpstr>Learning Objectives</vt:lpstr>
      <vt:lpstr>What Is Authorization?</vt:lpstr>
      <vt:lpstr>Permissions &amp; Roles</vt:lpstr>
      <vt:lpstr>Role Example</vt:lpstr>
      <vt:lpstr>Access Control Models</vt:lpstr>
      <vt:lpstr>Access Control Models</vt:lpstr>
      <vt:lpstr>Where Authorization Happens</vt:lpstr>
      <vt:lpstr>Common Authorization Vulnerabilities</vt:lpstr>
      <vt:lpstr>Common Authorization Vulnerabilities</vt:lpstr>
      <vt:lpstr>Authorization Best Practices</vt:lpstr>
      <vt:lpstr>Design for Scalability</vt:lpstr>
      <vt:lpstr>What Comes Next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Authorization &amp; Access Control: Controlling Who Can Do What in Your API</dc:title>
  <dc:creator>Ngane Emmanuel</dc:creator>
  <cp:keywords/>
  <cp:revision>93</cp:revision>
  <dcterms:created xsi:type="dcterms:W3CDTF">2026-01-20T16:22:33Z</dcterms:created>
  <dcterms:modified xsi:type="dcterms:W3CDTF">2026-01-20T17:47:48Z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2026-01-20</vt:lpwstr>
  </property>
  <property fmtid="{D5CDD505-2E9C-101B-9397-08002B2CF9AE}" pid="3" name="output">
    <vt:lpwstr/>
  </property>
  <property fmtid="{D5CDD505-2E9C-101B-9397-08002B2CF9AE}" pid="4" name="subtitle">
    <vt:lpwstr>Building Secure, Scalable, Fault-Tolerant and Low-Latency APIs with Java &amp; Spring Boot</vt:lpwstr>
  </property>
</Properties>
</file>