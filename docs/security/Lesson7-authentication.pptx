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0D2D53-1D0F-4730-A75F-9226D4E13F93}" v="303" dt="2026-01-20T12:41:32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4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6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9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277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884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7111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3556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455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253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13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581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771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4267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2489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119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6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2489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307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4267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2133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48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375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2718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67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0"/>
            <a:ext cx="489572" cy="2718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67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2489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762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7111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3556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2682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7820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0817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1446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487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8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8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978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357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289050"/>
            <a:ext cx="6619244" cy="2008236"/>
          </a:xfrm>
        </p:spPr>
        <p:txBody>
          <a:bodyPr/>
          <a:lstStyle/>
          <a:p>
            <a:pPr marL="0" lvl="0" indent="0">
              <a:buNone/>
            </a:pPr>
            <a:r>
              <a:rPr sz="4000" dirty="0"/>
              <a:t>Authentication Fundamentals for APIs: Identity, Trust and Access Control</a:t>
            </a:r>
            <a:endParaRPr lang="en-US" sz="4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389961"/>
            <a:ext cx="6619244" cy="646065"/>
          </a:xfrm>
        </p:spPr>
        <p:txBody>
          <a:bodyPr/>
          <a:lstStyle/>
          <a:p>
            <a:pPr marL="0" lvl="0" indent="0">
              <a:buNone/>
            </a:pPr>
            <a:r>
              <a:t>Building Secure, Scalable, Fault-Tolerant and Low-Latency APIs with Java &amp; Spring Boot</a:t>
            </a:r>
            <a:br/>
            <a:br/>
            <a:r>
              <a:t>Ngane Emmanuel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2026-01-20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Lesson Context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Where We Are</a:t>
            </a:r>
          </a:p>
          <a:p>
            <a:pPr lvl="0"/>
            <a:r>
              <a:t>✅ Built a basic API</a:t>
            </a:r>
          </a:p>
          <a:p>
            <a:pPr lvl="0"/>
            <a:r>
              <a:t>✅ Learned injection attacks</a:t>
            </a:r>
          </a:p>
          <a:p>
            <a:pPr lvl="0"/>
            <a:r>
              <a:t>✅ Secured object binding with DTOs</a:t>
            </a:r>
          </a:p>
          <a:p>
            <a:pPr lvl="0"/>
            <a:r>
              <a:t>🚨 Now we control identity and access</a:t>
            </a:r>
          </a:p>
          <a:p>
            <a:pPr marL="0" lvl="0" indent="0">
              <a:buNone/>
            </a:pPr>
            <a:r>
              <a:t>Authentication answers the question: &gt; Who is making this request?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By the end of this lesson:</a:t>
            </a:r>
          </a:p>
          <a:p>
            <a:pPr lvl="0"/>
            <a:r>
              <a:t>Understand authentication concepts.</a:t>
            </a:r>
          </a:p>
          <a:p>
            <a:pPr lvl="0"/>
            <a:r>
              <a:t>Differentiate authentication vs authorization.</a:t>
            </a:r>
          </a:p>
          <a:p>
            <a:pPr lvl="0"/>
            <a:r>
              <a:t>Learn common authentication approaches.</a:t>
            </a:r>
          </a:p>
          <a:p>
            <a:pPr lvl="0"/>
            <a:r>
              <a:t>Understand password security basics.</a:t>
            </a:r>
          </a:p>
          <a:p>
            <a:pPr lvl="0"/>
            <a:r>
              <a:t>Learn token-based authentication concepts.</a:t>
            </a:r>
          </a:p>
          <a:p>
            <a:pPr lvl="0"/>
            <a:r>
              <a:t>Understand tradeoffs and risks.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sz="3200" dirty="0"/>
              <a:t>Authentication vs Authorization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lvl="0">
              <a:spcBef>
                <a:spcPts val="3000"/>
              </a:spcBef>
            </a:pPr>
            <a:r>
              <a:rPr b="1" dirty="0"/>
              <a:t>Authentication</a:t>
            </a:r>
            <a:endParaRPr lang="en-US" dirty="0"/>
          </a:p>
          <a:p>
            <a:pPr marL="0" lvl="0" indent="0">
              <a:buNone/>
            </a:pPr>
            <a:r>
              <a:rPr dirty="0"/>
              <a:t>Authentication answers: &gt; Who are you?</a:t>
            </a:r>
          </a:p>
          <a:p>
            <a:pPr marL="0" indent="0">
              <a:buNone/>
            </a:pPr>
            <a:r>
              <a:rPr b="1" dirty="0"/>
              <a:t>Examples</a:t>
            </a:r>
            <a:r>
              <a:rPr dirty="0"/>
              <a:t>:</a:t>
            </a:r>
            <a:endParaRPr lang="en-US" dirty="0"/>
          </a:p>
          <a:p>
            <a:pPr lvl="1">
              <a:buFont typeface="Courier New" charset="2"/>
              <a:buChar char="o"/>
            </a:pPr>
            <a:r>
              <a:rPr dirty="0"/>
              <a:t>Username + password</a:t>
            </a:r>
            <a:endParaRPr lang="en-US" dirty="0"/>
          </a:p>
          <a:p>
            <a:pPr lvl="1">
              <a:buFont typeface="Courier New" charset="2"/>
              <a:buChar char="o"/>
            </a:pPr>
            <a:r>
              <a:rPr dirty="0"/>
              <a:t>Token </a:t>
            </a:r>
            <a:endParaRPr lang="en-US" dirty="0"/>
          </a:p>
          <a:p>
            <a:pPr lvl="1">
              <a:buFont typeface="Courier New" charset="2"/>
              <a:buChar char="o"/>
            </a:pPr>
            <a:r>
              <a:rPr dirty="0"/>
              <a:t>Certificate </a:t>
            </a:r>
            <a:endParaRPr lang="en-US"/>
          </a:p>
          <a:p>
            <a:pPr lvl="1">
              <a:buFont typeface="Courier New" charset="2"/>
              <a:buChar char="o"/>
            </a:pPr>
            <a:r>
              <a:rPr dirty="0"/>
              <a:t>Biometric</a:t>
            </a:r>
            <a:endParaRPr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B11C3-C6D0-3751-7914-BF3D249FD8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spcBef>
                <a:spcPts val="3000"/>
              </a:spcBef>
            </a:pPr>
            <a:r>
              <a:rPr lang="en-US" sz="1500" b="1" dirty="0"/>
              <a:t>Authorization</a:t>
            </a:r>
            <a:endParaRPr lang="en-US" sz="15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500" dirty="0"/>
              <a:t>Authorization answers: &gt; What are you allowed to do?</a:t>
            </a:r>
            <a:endParaRPr lang="en-US" sz="15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500" b="1" dirty="0"/>
              <a:t>Examples</a:t>
            </a:r>
            <a:r>
              <a:rPr lang="en-US" sz="1500" dirty="0"/>
              <a:t>: </a:t>
            </a:r>
            <a:endParaRPr lang="en-US" sz="1500" dirty="0">
              <a:solidFill>
                <a:srgbClr val="000000"/>
              </a:solidFill>
            </a:endParaRPr>
          </a:p>
          <a:p>
            <a:pPr lvl="1">
              <a:buFont typeface="Courier New" charset="2"/>
              <a:buChar char="o"/>
            </a:pPr>
            <a:r>
              <a:rPr lang="en-US" sz="1300" dirty="0"/>
              <a:t>Roles </a:t>
            </a:r>
            <a:endParaRPr lang="en-US" sz="1500">
              <a:solidFill>
                <a:srgbClr val="000000"/>
              </a:solidFill>
            </a:endParaRPr>
          </a:p>
          <a:p>
            <a:pPr lvl="1">
              <a:buFont typeface="Courier New" charset="2"/>
              <a:buChar char="o"/>
            </a:pPr>
            <a:r>
              <a:rPr lang="en-US" sz="1300" dirty="0"/>
              <a:t>Permissions </a:t>
            </a:r>
            <a:endParaRPr lang="en-US" sz="1300" dirty="0">
              <a:solidFill>
                <a:srgbClr val="000000"/>
              </a:solidFill>
            </a:endParaRPr>
          </a:p>
          <a:p>
            <a:pPr lvl="1">
              <a:buFont typeface="Courier New" charset="2"/>
              <a:buChar char="o"/>
            </a:pPr>
            <a:r>
              <a:rPr lang="en-US" sz="1300" dirty="0"/>
              <a:t>Policies</a:t>
            </a:r>
            <a:endParaRPr lang="en-US" sz="1300" dirty="0">
              <a:solidFill>
                <a:srgbClr val="000000"/>
              </a:solidFill>
            </a:endParaRPr>
          </a:p>
          <a:p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Common Confusion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Authentication and authorization solve different problems.</a:t>
            </a:r>
          </a:p>
          <a:p>
            <a:pPr lvl="0"/>
            <a:r>
              <a:rPr dirty="0"/>
              <a:t>Authentication answers: </a:t>
            </a:r>
            <a:r>
              <a:rPr b="1" dirty="0"/>
              <a:t>Who are you?</a:t>
            </a:r>
          </a:p>
          <a:p>
            <a:pPr lvl="0"/>
            <a:r>
              <a:rPr dirty="0"/>
              <a:t>Authorization answers: </a:t>
            </a:r>
            <a:r>
              <a:rPr b="1" dirty="0"/>
              <a:t>What are you allowed to do?</a:t>
            </a:r>
          </a:p>
          <a:p>
            <a:pPr marL="0" lvl="0" indent="0">
              <a:buNone/>
            </a:pPr>
            <a:r>
              <a:rPr dirty="0"/>
              <a:t>You must authenticate first before authorization can be evaluated.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72498-D657-2789-0A87-BCE2860171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 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User logs in →identity is verified(authentication)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System checks role → access is  granted or denied(authorization)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Mixing these concepts leads to insecure designs.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sz="3200" dirty="0"/>
              <a:t>Why APIs Need Authentication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Happens Without Authentication</a:t>
            </a:r>
          </a:p>
          <a:p>
            <a:pPr lvl="0"/>
            <a:r>
              <a:t>Anyone can call endpoints.</a:t>
            </a:r>
          </a:p>
          <a:p>
            <a:pPr lvl="0"/>
            <a:r>
              <a:t>Data exposure.</a:t>
            </a:r>
          </a:p>
          <a:p>
            <a:pPr lvl="0"/>
            <a:r>
              <a:t>Abuse and automation.</a:t>
            </a:r>
          </a:p>
          <a:p>
            <a:pPr lvl="0"/>
            <a:r>
              <a:t>No accountability.</a:t>
            </a:r>
          </a:p>
          <a:p>
            <a:pPr lvl="0"/>
            <a:r>
              <a:t>No audit trail.</a:t>
            </a:r>
          </a:p>
          <a:p>
            <a:pPr marL="0" lvl="0" indent="0">
              <a:buNone/>
            </a:pPr>
            <a:r>
              <a:t>Public APIs still require identity tracking.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Trust Boundaries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Authentication establishes:</a:t>
            </a:r>
          </a:p>
          <a:p>
            <a:pPr lvl="0"/>
            <a:r>
              <a:t>Identity</a:t>
            </a:r>
          </a:p>
          <a:p>
            <a:pPr lvl="0"/>
            <a:r>
              <a:t>Trust level</a:t>
            </a:r>
          </a:p>
          <a:p>
            <a:pPr lvl="0"/>
            <a:r>
              <a:t>Accountability</a:t>
            </a:r>
          </a:p>
          <a:p>
            <a:pPr lvl="0"/>
            <a:r>
              <a:t>Traceability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Common Authentication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Basic Authentication</a:t>
            </a:r>
          </a:p>
          <a:p>
            <a:pPr lvl="0"/>
            <a:r>
              <a:rPr dirty="0"/>
              <a:t>Username and password sent with every request.</a:t>
            </a:r>
          </a:p>
          <a:p>
            <a:pPr lvl="0"/>
            <a:r>
              <a:rPr dirty="0"/>
              <a:t>Simple but insecure unless HTTPS is enforced.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11229D-DAF9-1167-C8FF-ABAECE8A388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Limitations</a:t>
            </a:r>
            <a:r>
              <a:rPr lang="en-US" dirty="0"/>
              <a:t>: </a:t>
            </a:r>
            <a:endParaRPr lang="en-US">
              <a:solidFill>
                <a:srgbClr val="000000"/>
              </a:solidFill>
            </a:endParaRPr>
          </a:p>
          <a:p>
            <a:r>
              <a:rPr lang="en-US" err="1"/>
              <a:t>Credentialsexposed</a:t>
            </a:r>
            <a:r>
              <a:rPr lang="en-US" dirty="0"/>
              <a:t> frequently. 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Hard </a:t>
            </a:r>
            <a:r>
              <a:rPr lang="en-US" dirty="0" err="1"/>
              <a:t>torevoke</a:t>
            </a:r>
            <a:r>
              <a:rPr lang="en-US" dirty="0"/>
              <a:t>.</a:t>
            </a:r>
            <a:endParaRPr lang="en-US">
              <a:solidFill>
                <a:srgbClr val="000000"/>
              </a:solidFill>
            </a:endParaRPr>
          </a:p>
          <a:p>
            <a:r>
              <a:rPr lang="en-US" dirty="0"/>
              <a:t>Poor scalability.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Common Authentication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Session-Based Authentication</a:t>
            </a:r>
          </a:p>
          <a:p>
            <a:pPr lvl="0"/>
            <a:r>
              <a:rPr dirty="0"/>
              <a:t>Server stores session state.</a:t>
            </a:r>
          </a:p>
          <a:p>
            <a:pPr lvl="0"/>
            <a:r>
              <a:rPr dirty="0"/>
              <a:t>Client stores session ID (cookie).</a:t>
            </a:r>
          </a:p>
          <a:p>
            <a:pPr lvl="0"/>
            <a:r>
              <a:rPr dirty="0"/>
              <a:t>Common in traditional web apps.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8C3EE-644F-0F47-0867-8A2754599C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Limitations</a:t>
            </a:r>
            <a:r>
              <a:rPr lang="en-US" dirty="0"/>
              <a:t>: 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Harder to </a:t>
            </a:r>
            <a:r>
              <a:rPr lang="en-US" dirty="0" err="1"/>
              <a:t>scalehorizontally</a:t>
            </a:r>
            <a:r>
              <a:rPr lang="en-US" dirty="0"/>
              <a:t>.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Requires </a:t>
            </a:r>
            <a:r>
              <a:rPr lang="en-US" dirty="0" err="1"/>
              <a:t>stickysessions</a:t>
            </a:r>
            <a:r>
              <a:rPr lang="en-US" dirty="0"/>
              <a:t> or shared cache.</a:t>
            </a:r>
            <a:endParaRPr lang="en-US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Common Authentication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Token-Based Authentication</a:t>
            </a:r>
          </a:p>
          <a:p>
            <a:pPr lvl="0"/>
            <a:r>
              <a:rPr dirty="0"/>
              <a:t>Server issues a token after login.</a:t>
            </a:r>
          </a:p>
          <a:p>
            <a:pPr lvl="0"/>
            <a:r>
              <a:rPr dirty="0"/>
              <a:t>Client sends token on each request.</a:t>
            </a:r>
          </a:p>
          <a:p>
            <a:pPr lvl="0"/>
            <a:r>
              <a:rPr dirty="0"/>
              <a:t>Server validates token.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4A54F0-26AC-C06D-2207-8CC0BE896D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Common types</a:t>
            </a:r>
            <a:r>
              <a:rPr lang="en-US" dirty="0"/>
              <a:t>: 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JWT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 OAuth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access tokens</a:t>
            </a: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b="1" dirty="0"/>
              <a:t>Benefits</a:t>
            </a:r>
            <a:r>
              <a:rPr lang="en-US" dirty="0"/>
              <a:t>: 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Stateless 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Scalable 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Cloud friendly</a:t>
            </a:r>
            <a:endParaRPr lang="en-US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Common Authentication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API Keys</a:t>
            </a:r>
          </a:p>
          <a:p>
            <a:pPr lvl="0"/>
            <a:r>
              <a:rPr dirty="0"/>
              <a:t>Static keys per client.</a:t>
            </a:r>
          </a:p>
          <a:p>
            <a:pPr lvl="0"/>
            <a:r>
              <a:rPr dirty="0"/>
              <a:t>Used mostly for service-to-service or public APIs.</a:t>
            </a:r>
          </a:p>
          <a:p>
            <a:pPr marL="0" indent="0">
              <a:buNone/>
            </a:pPr>
            <a:r>
              <a:rPr b="1" dirty="0"/>
              <a:t>Limitations</a:t>
            </a:r>
            <a:r>
              <a:rPr dirty="0"/>
              <a:t>: </a:t>
            </a:r>
            <a:endParaRPr lang="en-US" dirty="0"/>
          </a:p>
          <a:p>
            <a:r>
              <a:rPr dirty="0"/>
              <a:t>Weak identity </a:t>
            </a:r>
            <a:endParaRPr lang="en-US"/>
          </a:p>
          <a:p>
            <a:r>
              <a:rPr dirty="0"/>
              <a:t>Hard rotation </a:t>
            </a:r>
            <a:endParaRPr lang="en-US" dirty="0"/>
          </a:p>
          <a:p>
            <a:pPr lvl="0"/>
            <a:r>
              <a:rPr dirty="0"/>
              <a:t>Often leaked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Password Security Basics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Never Store Plaintext Passwords</a:t>
            </a:r>
          </a:p>
          <a:p>
            <a:pPr marL="0" lvl="0" indent="0">
              <a:buNone/>
            </a:pPr>
            <a:r>
              <a:t>Passwords must always be:</a:t>
            </a:r>
          </a:p>
          <a:p>
            <a:pPr lvl="0"/>
            <a:r>
              <a:rPr b="1"/>
              <a:t>Hashed</a:t>
            </a:r>
            <a:r>
              <a:t>: Converted into a one-way mathematical value that cannot be reversed.</a:t>
            </a:r>
          </a:p>
          <a:p>
            <a:pPr lvl="0"/>
            <a:r>
              <a:rPr b="1"/>
              <a:t>Salted</a:t>
            </a:r>
            <a:r>
              <a:t>: Random data added before hashing to prevent duplicate and precomputed attacks.</a:t>
            </a:r>
          </a:p>
          <a:p>
            <a:pPr lvl="0"/>
            <a:r>
              <a:rPr b="1"/>
              <a:t>Stored securely</a:t>
            </a:r>
            <a:r>
              <a:t>: Saved with restricted access and encryption, never as raw passwords.</a:t>
            </a:r>
          </a:p>
          <a:p>
            <a:pPr marL="0" lvl="0" indent="0">
              <a:buNone/>
            </a:pPr>
            <a:r>
              <a:t>Never reversible.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Hashing vs Encryption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Hashing → One-way</a:t>
            </a:r>
          </a:p>
          <a:p>
            <a:pPr lvl="0"/>
            <a:r>
              <a:t>Encryption → Two-way</a:t>
            </a:r>
          </a:p>
          <a:p>
            <a:pPr marL="0" lvl="0" indent="0">
              <a:buNone/>
            </a:pPr>
            <a:r>
              <a:t>Passwords should be hashed, not encrypted.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Common Hash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b="1" dirty="0"/>
              <a:t>Secure</a:t>
            </a:r>
            <a:r>
              <a:rPr dirty="0"/>
              <a:t>: </a:t>
            </a:r>
            <a:endParaRPr lang="en-US" dirty="0"/>
          </a:p>
          <a:p>
            <a:pPr marL="285750" indent="-285750"/>
            <a:r>
              <a:rPr err="1"/>
              <a:t>bcrypt</a:t>
            </a:r>
            <a:r>
              <a:rPr lang="en-US" dirty="0"/>
              <a:t> </a:t>
            </a:r>
          </a:p>
          <a:p>
            <a:pPr marL="285750" indent="-285750"/>
            <a:r>
              <a:rPr lang="en-US" dirty="0"/>
              <a:t> </a:t>
            </a:r>
            <a:r>
              <a:rPr dirty="0"/>
              <a:t>Argon2</a:t>
            </a:r>
            <a:r>
              <a:rPr lang="en-US" dirty="0"/>
              <a:t> </a:t>
            </a:r>
          </a:p>
          <a:p>
            <a:pPr marL="285750" indent="-285750"/>
            <a:r>
              <a:rPr lang="en-US" dirty="0"/>
              <a:t> </a:t>
            </a:r>
            <a:r>
              <a:rPr err="1"/>
              <a:t>scrypt</a:t>
            </a:r>
            <a:endParaRPr/>
          </a:p>
          <a:p>
            <a:pPr marL="0" indent="0">
              <a:buNone/>
            </a:pPr>
            <a:r>
              <a:rPr b="1" dirty="0"/>
              <a:t>Avoid</a:t>
            </a:r>
            <a:r>
              <a:rPr dirty="0"/>
              <a:t>: </a:t>
            </a:r>
            <a:endParaRPr lang="en-US" dirty="0"/>
          </a:p>
          <a:p>
            <a:pPr marL="285750" indent="-285750"/>
            <a:r>
              <a:rPr dirty="0"/>
              <a:t>MD5</a:t>
            </a:r>
            <a:r>
              <a:rPr lang="en-US" dirty="0"/>
              <a:t> </a:t>
            </a:r>
          </a:p>
          <a:p>
            <a:pPr marL="285750" indent="-285750"/>
            <a:r>
              <a:rPr lang="en-US" dirty="0"/>
              <a:t> </a:t>
            </a:r>
            <a:r>
              <a:rPr dirty="0"/>
              <a:t>SHA1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Password Attacks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Attackers attempt:</a:t>
            </a:r>
          </a:p>
          <a:p>
            <a:pPr lvl="0"/>
            <a:r>
              <a:rPr b="1" dirty="0"/>
              <a:t>Brute force</a:t>
            </a:r>
            <a:r>
              <a:rPr dirty="0"/>
              <a:t>: Trying many password combinations until the correct one is found.</a:t>
            </a:r>
          </a:p>
          <a:p>
            <a:pPr lvl="0"/>
            <a:r>
              <a:rPr b="1" dirty="0"/>
              <a:t>Credential stuffing</a:t>
            </a:r>
            <a:r>
              <a:rPr dirty="0"/>
              <a:t>: Using leaked username-password pairs from other sites.</a:t>
            </a:r>
          </a:p>
          <a:p>
            <a:pPr lvl="0"/>
            <a:r>
              <a:rPr b="1" dirty="0"/>
              <a:t>Rainbow tables</a:t>
            </a:r>
            <a:r>
              <a:rPr dirty="0"/>
              <a:t>: Using precomputed hash databases to reverse weak hashes.</a:t>
            </a:r>
          </a:p>
          <a:p>
            <a:pPr lvl="0"/>
            <a:r>
              <a:rPr b="1" dirty="0"/>
              <a:t>Phishing</a:t>
            </a:r>
            <a:r>
              <a:rPr dirty="0"/>
              <a:t>: Tricking users into revealing their credentials through fake interfaces.</a:t>
            </a:r>
          </a:p>
          <a:p>
            <a:pPr marL="0" lvl="0" indent="0">
              <a:buNone/>
            </a:pPr>
            <a:r>
              <a:rPr dirty="0"/>
              <a:t>Defense requires layered protection.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Token Fundamentals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What Is a Token?</a:t>
            </a:r>
          </a:p>
          <a:p>
            <a:pPr marL="0" lvl="0" indent="0">
              <a:buNone/>
            </a:pPr>
            <a:r>
              <a:rPr dirty="0"/>
              <a:t>A token is a digital proof of authentication.</a:t>
            </a:r>
          </a:p>
          <a:p>
            <a:pPr marL="0" lvl="0" indent="0">
              <a:buNone/>
            </a:pPr>
            <a:r>
              <a:rPr dirty="0"/>
              <a:t>It represents:</a:t>
            </a:r>
          </a:p>
          <a:p>
            <a:pPr lvl="0"/>
            <a:r>
              <a:rPr dirty="0"/>
              <a:t>User identity</a:t>
            </a:r>
          </a:p>
          <a:p>
            <a:pPr lvl="0"/>
            <a:r>
              <a:rPr dirty="0"/>
              <a:t>Claims</a:t>
            </a:r>
          </a:p>
          <a:p>
            <a:pPr lvl="0"/>
            <a:r>
              <a:rPr dirty="0"/>
              <a:t>Expiration</a:t>
            </a:r>
          </a:p>
          <a:p>
            <a:pPr lvl="0"/>
            <a:r>
              <a:rPr dirty="0"/>
              <a:t>Integrity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B73E4-701A-2D94-8A64-D1967B8CB4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spcBef>
                <a:spcPts val="3000"/>
              </a:spcBef>
              <a:buNone/>
            </a:pPr>
            <a:r>
              <a:rPr lang="en-US" b="1" dirty="0"/>
              <a:t>JWT Structure (Conceptual)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Header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Payload (claims)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Signature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JWT is signed, not </a:t>
            </a:r>
            <a:r>
              <a:rPr lang="en-US" dirty="0" err="1"/>
              <a:t>encryptedby</a:t>
            </a:r>
            <a:r>
              <a:rPr lang="en-US" dirty="0"/>
              <a:t> default.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Token Lifecycle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t>User logs in.</a:t>
            </a:r>
          </a:p>
          <a:p>
            <a:pPr marL="342900" lvl="0" indent="-342900">
              <a:buAutoNum type="arabicPeriod"/>
            </a:pPr>
            <a:r>
              <a:t>Server validates credentials.</a:t>
            </a:r>
          </a:p>
          <a:p>
            <a:pPr marL="342900" lvl="0" indent="-342900">
              <a:buAutoNum type="arabicPeriod"/>
            </a:pPr>
            <a:r>
              <a:t>Token is issued.</a:t>
            </a:r>
          </a:p>
          <a:p>
            <a:pPr marL="342900" lvl="0" indent="-342900">
              <a:buAutoNum type="arabicPeriod"/>
            </a:pPr>
            <a:r>
              <a:t>Client stores token.</a:t>
            </a:r>
          </a:p>
          <a:p>
            <a:pPr marL="342900" lvl="0" indent="-342900">
              <a:buAutoNum type="arabicPeriod"/>
            </a:pPr>
            <a:r>
              <a:t>Token sent with each request.</a:t>
            </a:r>
          </a:p>
          <a:p>
            <a:pPr marL="342900" lvl="0" indent="-342900">
              <a:buAutoNum type="arabicPeriod"/>
            </a:pPr>
            <a:r>
              <a:t>Token expires or revoked.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Security Risks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Token Risks</a:t>
            </a:r>
          </a:p>
          <a:p>
            <a:pPr lvl="0"/>
            <a:r>
              <a:rPr b="1"/>
              <a:t>Token theft</a:t>
            </a:r>
            <a:r>
              <a:t>: An attacker steals a valid token and uses it to impersonate a user.</a:t>
            </a:r>
          </a:p>
          <a:p>
            <a:pPr lvl="0"/>
            <a:r>
              <a:rPr b="1"/>
              <a:t>Token replay</a:t>
            </a:r>
            <a:r>
              <a:t>: A captured token is reused to repeat authorized requests.</a:t>
            </a:r>
          </a:p>
          <a:p>
            <a:pPr lvl="0"/>
            <a:r>
              <a:rPr b="1"/>
              <a:t>Token leakage</a:t>
            </a:r>
            <a:r>
              <a:t>: Tokens are accidentally exposed through logs, URLs, or client storage.</a:t>
            </a:r>
          </a:p>
          <a:p>
            <a:pPr lvl="0"/>
            <a:r>
              <a:rPr b="1"/>
              <a:t>Long expiration windows</a:t>
            </a:r>
            <a:r>
              <a:t>: Stolen tokens remain valid for too long, increasing damage.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Security Risks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Defending Against Token Risks</a:t>
            </a:r>
          </a:p>
          <a:p>
            <a:pPr lvl="0"/>
            <a:r>
              <a:rPr b="1" dirty="0"/>
              <a:t>Short token expiration</a:t>
            </a:r>
            <a:r>
              <a:rPr dirty="0"/>
              <a:t>: Limits the damage window if a token is stolen.</a:t>
            </a:r>
          </a:p>
          <a:p>
            <a:pPr lvl="0"/>
            <a:r>
              <a:rPr b="1" dirty="0"/>
              <a:t>HTTPS everywhere</a:t>
            </a:r>
            <a:r>
              <a:rPr dirty="0"/>
              <a:t>: Prevents interception and token theft in transit.</a:t>
            </a:r>
          </a:p>
          <a:p>
            <a:pPr lvl="0"/>
            <a:r>
              <a:rPr b="1" dirty="0"/>
              <a:t>Secure storage</a:t>
            </a:r>
            <a:r>
              <a:rPr dirty="0"/>
              <a:t>: Never store tokens in URLs or insecure client storage.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140DAB-775E-9521-D2F7-FC5A84639B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 dirty="0"/>
              <a:t>Token rotation &amp; refresh</a:t>
            </a:r>
            <a:r>
              <a:rPr lang="en-US" dirty="0"/>
              <a:t>: Reduces reuse and </a:t>
            </a:r>
            <a:r>
              <a:rPr lang="en-US" dirty="0" err="1"/>
              <a:t>replayrisk</a:t>
            </a:r>
            <a:r>
              <a:rPr lang="en-US" dirty="0"/>
              <a:t>.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b="1" dirty="0"/>
              <a:t>Audience and </a:t>
            </a:r>
            <a:r>
              <a:rPr lang="en-US" b="1" dirty="0" err="1"/>
              <a:t>scopevalidation</a:t>
            </a:r>
            <a:r>
              <a:rPr lang="en-US" dirty="0"/>
              <a:t>:  Ensures </a:t>
            </a:r>
            <a:r>
              <a:rPr lang="en-US" dirty="0" err="1"/>
              <a:t>tokensare</a:t>
            </a:r>
            <a:r>
              <a:rPr lang="en-US" dirty="0"/>
              <a:t> used only for </a:t>
            </a:r>
            <a:r>
              <a:rPr lang="en-US" dirty="0" err="1"/>
              <a:t>intendedservices</a:t>
            </a:r>
            <a:r>
              <a:rPr lang="en-US" dirty="0"/>
              <a:t>.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b="1" dirty="0"/>
              <a:t>Revocation and monitoring</a:t>
            </a:r>
            <a:r>
              <a:rPr lang="en-US" dirty="0"/>
              <a:t>: Detects  and blocks suspicious token </a:t>
            </a:r>
            <a:r>
              <a:rPr lang="en-US" dirty="0" err="1"/>
              <a:t>usagequickly</a:t>
            </a:r>
            <a:r>
              <a:rPr lang="en-US" dirty="0"/>
              <a:t>.</a:t>
            </a:r>
            <a:endParaRPr lang="en-US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Security Risks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Password Risks</a:t>
            </a:r>
          </a:p>
          <a:p>
            <a:pPr lvl="0"/>
            <a:r>
              <a:rPr dirty="0"/>
              <a:t>Weak passwords</a:t>
            </a:r>
          </a:p>
          <a:p>
            <a:pPr lvl="0"/>
            <a:r>
              <a:rPr dirty="0"/>
              <a:t>Reuse across sites</a:t>
            </a:r>
          </a:p>
          <a:p>
            <a:pPr lvl="0"/>
            <a:r>
              <a:rPr dirty="0"/>
              <a:t>Phishing</a:t>
            </a:r>
          </a:p>
          <a:p>
            <a:pPr lvl="0"/>
            <a:r>
              <a:rPr dirty="0"/>
              <a:t>Database breaches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04135-DBEC-5CE8-CEBE-27CF6BAF00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3000"/>
              </a:spcBef>
              <a:buNone/>
            </a:pPr>
            <a:r>
              <a:rPr lang="en-US" b="1" dirty="0"/>
              <a:t>Transport Risks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Unencrypted traffic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Man-in-the-middle attacks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Security vs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Cost of Authentication</a:t>
            </a:r>
          </a:p>
          <a:p>
            <a:pPr lvl="0"/>
            <a:r>
              <a:rPr dirty="0"/>
              <a:t>Password hashing CPU cost</a:t>
            </a:r>
          </a:p>
          <a:p>
            <a:pPr lvl="0"/>
            <a:r>
              <a:rPr dirty="0"/>
              <a:t>Token validation overhead</a:t>
            </a:r>
          </a:p>
          <a:p>
            <a:pPr lvl="0"/>
            <a:r>
              <a:rPr dirty="0"/>
              <a:t>Cryptographic operations</a:t>
            </a:r>
          </a:p>
          <a:p>
            <a:pPr marL="0" lvl="0" indent="0">
              <a:spcBef>
                <a:spcPts val="3000"/>
              </a:spcBef>
              <a:buNone/>
            </a:pPr>
            <a:endParaRPr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DF1F7-4A37-85A3-C152-63281A5AF69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3000"/>
              </a:spcBef>
              <a:buNone/>
            </a:pPr>
            <a:r>
              <a:rPr lang="en-US" b="1" dirty="0"/>
              <a:t>Why It’s Worth It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Identity protection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Legal compliance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User trust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System integrity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What We Will Do Practically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Next Video Plan</a:t>
            </a:r>
          </a:p>
          <a:p>
            <a:pPr marL="342900" lvl="0" indent="-342900">
              <a:buAutoNum type="arabicPeriod"/>
            </a:pPr>
            <a:r>
              <a:t>Implement login endpoint.</a:t>
            </a:r>
          </a:p>
          <a:p>
            <a:pPr marL="342900" lvl="0" indent="-342900">
              <a:buAutoNum type="arabicPeriod"/>
            </a:pPr>
            <a:r>
              <a:t>Store hashed passwords.</a:t>
            </a:r>
          </a:p>
          <a:p>
            <a:pPr marL="342900" lvl="0" indent="-342900">
              <a:buAutoNum type="arabicPeriod"/>
            </a:pPr>
            <a:r>
              <a:t>Generate authentication token.</a:t>
            </a:r>
          </a:p>
          <a:p>
            <a:pPr marL="342900" lvl="0" indent="-342900">
              <a:buAutoNum type="arabicPeriod"/>
            </a:pPr>
            <a:r>
              <a:t>Secure endpoints.</a:t>
            </a:r>
          </a:p>
          <a:p>
            <a:pPr marL="342900" lvl="0" indent="-342900">
              <a:buAutoNum type="arabicPeriod"/>
            </a:pPr>
            <a:r>
              <a:t>Validate token on requests.</a:t>
            </a:r>
          </a:p>
          <a:p>
            <a:pPr marL="342900" lvl="0" indent="-342900">
              <a:buAutoNum type="arabicPeriod"/>
            </a:pPr>
            <a:r>
              <a:t>Measure overhead.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Key Takeaways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dirty="0"/>
              <a:t>Authentication verifies identity.</a:t>
            </a:r>
          </a:p>
          <a:p>
            <a:pPr lvl="0"/>
            <a:r>
              <a:rPr dirty="0"/>
              <a:t>Authorization controls access.</a:t>
            </a:r>
          </a:p>
          <a:p>
            <a:pPr lvl="0"/>
            <a:r>
              <a:rPr dirty="0"/>
              <a:t>Tokens enable scalable APIs.</a:t>
            </a:r>
          </a:p>
          <a:p>
            <a:pPr lvl="0"/>
            <a:r>
              <a:rPr dirty="0"/>
              <a:t>Passwords must be hashed securely.</a:t>
            </a:r>
          </a:p>
          <a:p>
            <a:pPr lvl="0"/>
            <a:r>
              <a:rPr dirty="0"/>
              <a:t>Security requires layered defenses.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Ion Boardroom</vt:lpstr>
      <vt:lpstr>Authentication Fundamentals for APIs: Identity, Trust and Access Control</vt:lpstr>
      <vt:lpstr>Lesson Context</vt:lpstr>
      <vt:lpstr>Learning Objectives</vt:lpstr>
      <vt:lpstr>Authentication vs Authorization</vt:lpstr>
      <vt:lpstr>Common Confusion</vt:lpstr>
      <vt:lpstr>Mixing these concepts leads to insecure designs.</vt:lpstr>
      <vt:lpstr>Why APIs Need Authentication</vt:lpstr>
      <vt:lpstr>Trust Boundaries</vt:lpstr>
      <vt:lpstr>Common Authentication Models</vt:lpstr>
      <vt:lpstr>Common Authentication Models</vt:lpstr>
      <vt:lpstr>Common Authentication Models</vt:lpstr>
      <vt:lpstr>Common Authentication Models</vt:lpstr>
      <vt:lpstr>Password Security Basics</vt:lpstr>
      <vt:lpstr>Hashing vs Encryption</vt:lpstr>
      <vt:lpstr>Common Hash Algorithms</vt:lpstr>
      <vt:lpstr>Password Attacks</vt:lpstr>
      <vt:lpstr>Token Fundamentals</vt:lpstr>
      <vt:lpstr>Token Lifecycle</vt:lpstr>
      <vt:lpstr>Security Risks</vt:lpstr>
      <vt:lpstr>Security Risks</vt:lpstr>
      <vt:lpstr>Security Risks</vt:lpstr>
      <vt:lpstr>Security vs Performance</vt:lpstr>
      <vt:lpstr>What We Will Do Practically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Authentication Fundamentals for APIs: Identity, Trust and Access Control</dc:title>
  <dc:creator>Ngane Emmanuel</dc:creator>
  <cp:keywords/>
  <cp:revision>129</cp:revision>
  <dcterms:created xsi:type="dcterms:W3CDTF">2026-01-20T12:12:24Z</dcterms:created>
  <dcterms:modified xsi:type="dcterms:W3CDTF">2026-01-20T12:41:47Z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2026-01-20</vt:lpwstr>
  </property>
  <property fmtid="{D5CDD505-2E9C-101B-9397-08002B2CF9AE}" pid="3" name="output">
    <vt:lpwstr/>
  </property>
  <property fmtid="{D5CDD505-2E9C-101B-9397-08002B2CF9AE}" pid="4" name="subtitle">
    <vt:lpwstr>Building Secure, Scalable, Fault-Tolerant and Low-Latency APIs with Java &amp; Spring Boot</vt:lpwstr>
  </property>
</Properties>
</file>