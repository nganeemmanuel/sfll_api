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E4051-1513-4B3A-94A7-B22E653C8F2D}" v="80" dt="2026-01-17T22:52:57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70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39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3556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9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936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385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613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86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66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50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2133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10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317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0"/>
            <a:ext cx="489572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036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3556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956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29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011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3820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44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219543"/>
            <a:ext cx="6619244" cy="2008236"/>
          </a:xfrm>
        </p:spPr>
        <p:txBody>
          <a:bodyPr/>
          <a:lstStyle/>
          <a:p>
            <a:pPr marL="0" lvl="0" indent="0">
              <a:buNone/>
            </a:pPr>
            <a:r>
              <a:rPr sz="6000" dirty="0"/>
              <a:t>API Security Fundamentals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374515"/>
            <a:ext cx="6619244" cy="646065"/>
          </a:xfrm>
        </p:spPr>
        <p:txBody>
          <a:bodyPr/>
          <a:lstStyle/>
          <a:p>
            <a:pPr marL="0" lvl="0" indent="0">
              <a:buNone/>
            </a:pPr>
            <a:r>
              <a:t>Building Secure, Scalable, Fault-Tolerant and Low-Latency APIs with Java &amp; Spring Boot</a:t>
            </a:r>
            <a:br/>
            <a:br/>
            <a:r>
              <a:t>Ngane Emmanuel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2026-01-17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Lesson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Where We Are in the Series</a:t>
            </a:r>
          </a:p>
          <a:p>
            <a:pPr lvl="0"/>
            <a:r>
              <a:t>✅ What is an API</a:t>
            </a:r>
          </a:p>
          <a:p>
            <a:pPr lvl="0"/>
            <a:r>
              <a:t>✅ API architecture</a:t>
            </a:r>
          </a:p>
          <a:p>
            <a:pPr lvl="0"/>
            <a:r>
              <a:t>✅ Built a basic Spring Boot API</a:t>
            </a:r>
          </a:p>
          <a:p>
            <a:pPr lvl="0"/>
            <a:r>
              <a:t>🚨 Now we secure it</a:t>
            </a:r>
          </a:p>
          <a:p>
            <a:pPr marL="0" lvl="0" indent="0">
              <a:buNone/>
            </a:pPr>
            <a:r>
              <a:t>We intentionally start with a simple, insecure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Why This Matters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Most security breaches: - Are not advanced hacks - Are basic mistakes - Are preventable - Come from poor design decisions</a:t>
            </a:r>
          </a:p>
          <a:p>
            <a:pPr marL="0" lvl="0" indent="0">
              <a:buNone/>
            </a:pPr>
            <a:r>
              <a:t>Security is not a feature. It is a </a:t>
            </a:r>
            <a:r>
              <a:rPr b="1"/>
              <a:t>system property</a:t>
            </a:r>
            <a: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Is API Security?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Definition</a:t>
            </a:r>
          </a:p>
          <a:p>
            <a:pPr marL="0" lvl="0" indent="0">
              <a:buNone/>
            </a:pPr>
            <a:r>
              <a:t>API Security is the practice of protecting:</a:t>
            </a:r>
          </a:p>
          <a:p>
            <a:pPr lvl="0"/>
            <a:r>
              <a:t>Data</a:t>
            </a:r>
          </a:p>
          <a:p>
            <a:pPr lvl="0"/>
            <a:r>
              <a:t>Users</a:t>
            </a:r>
          </a:p>
          <a:p>
            <a:pPr lvl="0"/>
            <a:r>
              <a:t>Infrastructure</a:t>
            </a:r>
          </a:p>
          <a:p>
            <a:pPr lvl="0"/>
            <a:r>
              <a:t>Business logic</a:t>
            </a:r>
          </a:p>
          <a:p>
            <a:pPr lvl="0"/>
            <a:r>
              <a:t>Availability</a:t>
            </a:r>
          </a:p>
          <a:p>
            <a:pPr marL="0" lvl="0" indent="0">
              <a:buNone/>
            </a:pPr>
            <a:r>
              <a:t>from unauthorized access, abuse, or manipulation.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We Are Protecting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🔒 User data (PII - personal identifiable information, credentials)</a:t>
            </a:r>
          </a:p>
          <a:p>
            <a:pPr lvl="0"/>
            <a:r>
              <a:t>💳 Financial transactions</a:t>
            </a:r>
          </a:p>
          <a:p>
            <a:pPr lvl="0"/>
            <a:r>
              <a:t>🧠 Business logic</a:t>
            </a:r>
          </a:p>
          <a:p>
            <a:pPr lvl="0"/>
            <a:r>
              <a:t>🖥 Infrastructure resources</a:t>
            </a:r>
          </a:p>
          <a:p>
            <a:pPr lvl="0"/>
            <a:r>
              <a:t>📈 System availability</a:t>
            </a:r>
          </a:p>
          <a:p>
            <a:pPr marL="0" lvl="0" indent="0">
              <a:buNone/>
            </a:pPr>
            <a:r>
              <a:t>APIs are high-value targets.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Why APIs Are Attacked More Than UIs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Direct access to business logic</a:t>
            </a:r>
          </a:p>
          <a:p>
            <a:pPr lvl="0"/>
            <a:r>
              <a:t>No visual barriers</a:t>
            </a:r>
          </a:p>
          <a:p>
            <a:pPr lvl="0"/>
            <a:r>
              <a:t>Automation friendly</a:t>
            </a:r>
          </a:p>
          <a:p>
            <a:pPr lvl="0"/>
            <a:r>
              <a:t>Often poorly monitored</a:t>
            </a:r>
          </a:p>
          <a:p>
            <a:pPr lvl="0"/>
            <a:r>
              <a:t>Exposed to the internet</a:t>
            </a:r>
          </a:p>
          <a:p>
            <a:pPr marL="0" lvl="0" indent="0">
              <a:buNone/>
            </a:pPr>
            <a:r>
              <a:t>Attackers love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Threat Mindset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Think Like an Attacker</a:t>
            </a:r>
          </a:p>
          <a:p>
            <a:pPr marL="0" lvl="0" indent="0">
              <a:buNone/>
            </a:pPr>
            <a:r>
              <a:t>Attackers ask:</a:t>
            </a:r>
          </a:p>
          <a:p>
            <a:pPr lvl="0"/>
            <a:r>
              <a:t>What inputs can I control?</a:t>
            </a:r>
          </a:p>
          <a:p>
            <a:pPr lvl="0"/>
            <a:r>
              <a:t>What assumptions exist?</a:t>
            </a:r>
          </a:p>
          <a:p>
            <a:pPr lvl="0"/>
            <a:r>
              <a:t>What data can I manipulate?</a:t>
            </a:r>
          </a:p>
          <a:p>
            <a:pPr lvl="0"/>
            <a:r>
              <a:t>What happens if I send invalid data?</a:t>
            </a:r>
          </a:p>
          <a:p>
            <a:pPr lvl="0"/>
            <a:r>
              <a:t>What if I bypass validation?</a:t>
            </a:r>
          </a:p>
          <a:p>
            <a:pPr marL="0" lvl="0" indent="0">
              <a:buNone/>
            </a:pPr>
            <a:r>
              <a:t>Security begins with curiosity.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Attack Surface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dirty="0"/>
              <a:t>Attack surface includes:</a:t>
            </a:r>
          </a:p>
          <a:p>
            <a:pPr lvl="0"/>
            <a:r>
              <a:rPr dirty="0"/>
              <a:t>Endpoints</a:t>
            </a:r>
          </a:p>
          <a:p>
            <a:pPr lvl="0"/>
            <a:r>
              <a:rPr dirty="0"/>
              <a:t>Request parameters</a:t>
            </a:r>
          </a:p>
          <a:p>
            <a:pPr lvl="0"/>
            <a:r>
              <a:rPr dirty="0"/>
              <a:t>Headers</a:t>
            </a:r>
          </a:p>
          <a:p>
            <a:pPr lvl="0"/>
            <a:r>
              <a:rPr dirty="0"/>
              <a:t>Payloads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96223-16DE-20D4-B6BB-6AD54C7DBF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Authentication mechanisms</a:t>
            </a:r>
            <a:endParaRPr lang="en-US" dirty="0" err="1">
              <a:solidFill>
                <a:srgbClr val="000000"/>
              </a:solidFill>
            </a:endParaRPr>
          </a:p>
          <a:p>
            <a:r>
              <a:rPr lang="en-US" dirty="0"/>
              <a:t>Dependencies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Configuration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Every input is a potential attack vector.</a:t>
            </a:r>
            <a:endParaRPr lang="en-US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Why Security Is Hard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Complexity</a:t>
            </a:r>
          </a:p>
          <a:p>
            <a:pPr marL="0" lvl="0" indent="0">
              <a:buNone/>
            </a:pPr>
            <a:r>
              <a:t>Modern systems have:</a:t>
            </a:r>
          </a:p>
          <a:p>
            <a:pPr lvl="0"/>
            <a:r>
              <a:t>Multiple services</a:t>
            </a:r>
          </a:p>
          <a:p>
            <a:pPr lvl="0"/>
            <a:r>
              <a:t>Third-party integrations</a:t>
            </a:r>
          </a:p>
          <a:p>
            <a:pPr lvl="0"/>
            <a:r>
              <a:t>Distributed infrastructure</a:t>
            </a:r>
          </a:p>
          <a:p>
            <a:pPr lvl="0"/>
            <a:r>
              <a:t>Rapid deployment cycles</a:t>
            </a:r>
          </a:p>
          <a:p>
            <a:pPr marL="0" lvl="0" indent="0">
              <a:buNone/>
            </a:pPr>
            <a:r>
              <a:t>Complexity increases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Why Security Is Hard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Human Error</a:t>
            </a:r>
          </a:p>
          <a:p>
            <a:pPr lvl="0"/>
            <a:r>
              <a:t>Misconfiguration</a:t>
            </a:r>
          </a:p>
          <a:p>
            <a:pPr lvl="0"/>
            <a:r>
              <a:t>Weak validation</a:t>
            </a:r>
          </a:p>
          <a:p>
            <a:pPr lvl="0"/>
            <a:r>
              <a:t>Hardcoded secrets</a:t>
            </a:r>
          </a:p>
          <a:p>
            <a:pPr lvl="0"/>
            <a:r>
              <a:t>Copy-paste code</a:t>
            </a:r>
          </a:p>
          <a:p>
            <a:pPr lvl="0"/>
            <a:r>
              <a:t>Incomplete testing</a:t>
            </a:r>
          </a:p>
          <a:p>
            <a:pPr marL="0" lvl="0" indent="0">
              <a:buNone/>
            </a:pPr>
            <a:r>
              <a:t>Most breaches are accidental.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Security vs Performance Tradeoff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Security Has a Cost</a:t>
            </a:r>
          </a:p>
          <a:p>
            <a:pPr marL="0" lvl="0" indent="0">
              <a:buNone/>
            </a:pPr>
            <a:r>
              <a:t>Security adds:</a:t>
            </a:r>
          </a:p>
          <a:p>
            <a:pPr lvl="0"/>
            <a:r>
              <a:t>Encryption overhead</a:t>
            </a:r>
          </a:p>
          <a:p>
            <a:pPr lvl="0"/>
            <a:r>
              <a:t>Validation processing</a:t>
            </a:r>
          </a:p>
          <a:p>
            <a:pPr lvl="0"/>
            <a:r>
              <a:t>Authentication latency</a:t>
            </a:r>
          </a:p>
          <a:p>
            <a:pPr lvl="0"/>
            <a:r>
              <a:t>Logging overhead</a:t>
            </a:r>
          </a:p>
          <a:p>
            <a:pPr lvl="0"/>
            <a:r>
              <a:t>Network hops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Security vs Performance Tradeoff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The Goal Is Balance</a:t>
            </a:r>
          </a:p>
          <a:p>
            <a:pPr marL="0" lvl="0" indent="0">
              <a:buNone/>
            </a:pPr>
            <a:r>
              <a:t>We aim for:</a:t>
            </a:r>
          </a:p>
          <a:p>
            <a:pPr lvl="0"/>
            <a:r>
              <a:t>✔️ Strong enough security</a:t>
            </a:r>
          </a:p>
          <a:p>
            <a:pPr lvl="0"/>
            <a:r>
              <a:t>✔️ Acceptable latency</a:t>
            </a:r>
          </a:p>
          <a:p>
            <a:pPr lvl="0"/>
            <a:r>
              <a:t>✔️ Good user experience</a:t>
            </a:r>
          </a:p>
          <a:p>
            <a:pPr lvl="0"/>
            <a:r>
              <a:t>✔️ Operational simplicity</a:t>
            </a:r>
          </a:p>
          <a:p>
            <a:pPr marL="0" lvl="0" indent="0">
              <a:buNone/>
            </a:pPr>
            <a:r>
              <a:t>Not maximum security at all costs.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Security vs Performance Tradeoff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Engineering Is Tradeoffs</a:t>
            </a:r>
          </a:p>
          <a:p>
            <a:pPr marL="0" lvl="0" indent="0">
              <a:buNone/>
            </a:pPr>
            <a:r>
              <a:t>Security decisions impact:</a:t>
            </a:r>
          </a:p>
          <a:p>
            <a:pPr lvl="0"/>
            <a:r>
              <a:t>Latency</a:t>
            </a:r>
          </a:p>
          <a:p>
            <a:pPr lvl="0"/>
            <a:r>
              <a:t>Throughput</a:t>
            </a:r>
          </a:p>
          <a:p>
            <a:pPr lvl="0"/>
            <a:r>
              <a:t>Complexity</a:t>
            </a:r>
          </a:p>
          <a:p>
            <a:pPr lvl="0"/>
            <a:r>
              <a:t>Cost</a:t>
            </a:r>
          </a:p>
          <a:p>
            <a:pPr lvl="0"/>
            <a:r>
              <a:t>Developer velocity</a:t>
            </a:r>
          </a:p>
          <a:p>
            <a:pPr marL="0" lvl="0" indent="0">
              <a:buNone/>
            </a:pPr>
            <a:r>
              <a:t>We must measure and justify.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Real-World Consequences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Happens When APIs Are Insecure?</a:t>
            </a:r>
          </a:p>
          <a:p>
            <a:pPr lvl="0"/>
            <a:r>
              <a:t>Data breaches</a:t>
            </a:r>
          </a:p>
          <a:p>
            <a:pPr lvl="0"/>
            <a:r>
              <a:t>Financial loss</a:t>
            </a:r>
          </a:p>
          <a:p>
            <a:pPr lvl="0"/>
            <a:r>
              <a:t>Legal penalties</a:t>
            </a:r>
          </a:p>
          <a:p>
            <a:pPr lvl="0"/>
            <a:r>
              <a:t>Brand damage</a:t>
            </a:r>
          </a:p>
          <a:p>
            <a:pPr lvl="0"/>
            <a:r>
              <a:t>Loss of trust</a:t>
            </a:r>
          </a:p>
          <a:p>
            <a:pPr marL="0" lvl="0" indent="0">
              <a:buNone/>
            </a:pPr>
            <a:r>
              <a:t>Small bugs → massive damage.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Example: Injection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If user input is not validated:</a:t>
            </a:r>
          </a:p>
          <a:p>
            <a:pPr lvl="0"/>
            <a:r>
              <a:t>Attackers inject commands</a:t>
            </a:r>
          </a:p>
          <a:p>
            <a:pPr lvl="0"/>
            <a:r>
              <a:t>Bypass authentication</a:t>
            </a:r>
          </a:p>
          <a:p>
            <a:pPr lvl="0"/>
            <a:r>
              <a:t>Read or modify data</a:t>
            </a:r>
          </a:p>
          <a:p>
            <a:pPr lvl="0"/>
            <a:r>
              <a:t>Destroy databases</a:t>
            </a:r>
          </a:p>
          <a:p>
            <a:pPr marL="0" lvl="0" indent="0">
              <a:buNone/>
            </a:pPr>
            <a:r>
              <a:t>We will demonstrate this practically.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Our Security Learning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How This Series Will Teach Security</a:t>
            </a:r>
          </a:p>
          <a:p>
            <a:pPr marL="0" lvl="0" indent="0">
              <a:buNone/>
            </a:pPr>
            <a:r>
              <a:t>For each topic:</a:t>
            </a:r>
          </a:p>
          <a:p>
            <a:pPr marL="342900" lvl="0" indent="-342900">
              <a:buAutoNum type="arabicPeriod"/>
            </a:pPr>
            <a:r>
              <a:t>Understand the concept</a:t>
            </a:r>
          </a:p>
          <a:p>
            <a:pPr marL="342900" lvl="0" indent="-342900">
              <a:buAutoNum type="arabicPeriod"/>
            </a:pPr>
            <a:r>
              <a:t>Observe a real vulnerability</a:t>
            </a:r>
          </a:p>
          <a:p>
            <a:pPr marL="342900" lvl="0" indent="-342900">
              <a:buAutoNum type="arabicPeriod"/>
            </a:pPr>
            <a:r>
              <a:t>Perform a controlled attack</a:t>
            </a:r>
          </a:p>
          <a:p>
            <a:pPr marL="342900" lvl="0" indent="-342900">
              <a:buAutoNum type="arabicPeriod"/>
            </a:pPr>
            <a:r>
              <a:t>Implement protection</a:t>
            </a:r>
          </a:p>
          <a:p>
            <a:pPr marL="342900" lvl="0" indent="-342900">
              <a:buAutoNum type="arabicPeriod"/>
            </a:pPr>
            <a:r>
              <a:t>Re-test the attack</a:t>
            </a:r>
          </a:p>
          <a:p>
            <a:pPr marL="342900" lvl="0" indent="-342900">
              <a:buAutoNum type="arabicPeriod"/>
            </a:pPr>
            <a:r>
              <a:t>Measure impact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lvl="0"/>
            <a:r>
              <a:rPr dirty="0"/>
              <a:t>Input validation &amp; injection</a:t>
            </a:r>
            <a:endParaRPr lang="en-US" dirty="0"/>
          </a:p>
          <a:p>
            <a:pPr lvl="0"/>
            <a:r>
              <a:rPr dirty="0"/>
              <a:t>DTOs &amp; mass assignment</a:t>
            </a:r>
          </a:p>
          <a:p>
            <a:pPr lvl="0"/>
            <a:r>
              <a:rPr dirty="0"/>
              <a:t>Authentication</a:t>
            </a:r>
          </a:p>
          <a:p>
            <a:pPr lvl="0"/>
            <a:r>
              <a:rPr dirty="0"/>
              <a:t>Authorization</a:t>
            </a:r>
          </a:p>
          <a:p>
            <a:pPr lvl="0"/>
            <a:r>
              <a:rPr dirty="0"/>
              <a:t>HTTPS &amp; TLS</a:t>
            </a:r>
          </a:p>
          <a:p>
            <a:pPr lvl="0"/>
            <a:r>
              <a:rPr dirty="0"/>
              <a:t>Rate limiting</a:t>
            </a:r>
          </a:p>
          <a:p>
            <a:pPr lvl="0"/>
            <a:r>
              <a:rPr dirty="0"/>
              <a:t>Secrets management</a:t>
            </a:r>
          </a:p>
          <a:p>
            <a:pPr lvl="0"/>
            <a:r>
              <a:rPr dirty="0"/>
              <a:t>Logging &amp; auditing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9666A0-72FC-1AF6-56F9-AB79273D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/>
          <a:p>
            <a:pPr algn="ctr"/>
            <a:r>
              <a:rPr lang="en-US" dirty="0"/>
              <a:t>Topics to cover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Next Lesson Preview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Next Video</a:t>
            </a:r>
          </a:p>
          <a:p>
            <a:pPr lvl="0"/>
            <a:r>
              <a:t>Injection attacks explained</a:t>
            </a:r>
          </a:p>
          <a:p>
            <a:pPr lvl="0"/>
            <a:r>
              <a:t>SQL injection demonstration</a:t>
            </a:r>
          </a:p>
          <a:p>
            <a:pPr lvl="0"/>
            <a:r>
              <a:t>Why ORMs help but don’t solve everything</a:t>
            </a:r>
          </a:p>
          <a:p>
            <a:pPr lvl="0"/>
            <a:r>
              <a:t>Fixing vulnerabilities properly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Ion Boardroom</vt:lpstr>
      <vt:lpstr>API Security Fundamentals</vt:lpstr>
      <vt:lpstr>Lesson Context</vt:lpstr>
      <vt:lpstr>Why This Matters</vt:lpstr>
      <vt:lpstr>What Is API Security?</vt:lpstr>
      <vt:lpstr>What We Are Protecting</vt:lpstr>
      <vt:lpstr>Why APIs Are Attacked More Than UIs</vt:lpstr>
      <vt:lpstr>Threat Mindset</vt:lpstr>
      <vt:lpstr>Attack Surface</vt:lpstr>
      <vt:lpstr>Why Security Is Hard</vt:lpstr>
      <vt:lpstr>Why Security Is Hard</vt:lpstr>
      <vt:lpstr>Security vs Performance Tradeoff</vt:lpstr>
      <vt:lpstr>Security vs Performance Tradeoff</vt:lpstr>
      <vt:lpstr>Security vs Performance Tradeoff</vt:lpstr>
      <vt:lpstr>Real-World Consequences</vt:lpstr>
      <vt:lpstr>Example: Injection Attacks</vt:lpstr>
      <vt:lpstr>Our Security Learning Strategy</vt:lpstr>
      <vt:lpstr>Topics to cover</vt:lpstr>
      <vt:lpstr>Next Lesson Preview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Security Fundamentals</dc:title>
  <dc:creator>Ngane Emmanuel</dc:creator>
  <cp:keywords/>
  <cp:revision>49</cp:revision>
  <dcterms:created xsi:type="dcterms:W3CDTF">2026-01-17T17:12:53Z</dcterms:created>
  <dcterms:modified xsi:type="dcterms:W3CDTF">2026-01-17T22:53:17Z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2026-01-17</vt:lpwstr>
  </property>
  <property fmtid="{D5CDD505-2E9C-101B-9397-08002B2CF9AE}" pid="3" name="output">
    <vt:lpwstr/>
  </property>
  <property fmtid="{D5CDD505-2E9C-101B-9397-08002B2CF9AE}" pid="4" name="subtitle">
    <vt:lpwstr>Building Secure, Scalable, Fault-Tolerant and Low-Latency APIs with Java &amp; Spring Boot</vt:lpwstr>
  </property>
</Properties>
</file>