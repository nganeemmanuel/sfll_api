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82" r:id="rId9"/>
    <p:sldId id="262" r:id="rId10"/>
    <p:sldId id="263" r:id="rId11"/>
    <p:sldId id="283" r:id="rId12"/>
    <p:sldId id="264" r:id="rId13"/>
    <p:sldId id="28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6863A-4747-458F-B226-A2E33FB6A089}" v="421" dt="2026-01-17T15:41:14.109"/>
    <p1510:client id="{B1742B6E-5260-46FD-A7CD-61CCFC3BFA6B}" v="202" dt="2026-01-17T14:51:52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10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8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3556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04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96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17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43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13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3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94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223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070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930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849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17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166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80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7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621138"/>
            <a:ext cx="6619244" cy="1027419"/>
          </a:xfrm>
        </p:spPr>
        <p:txBody>
          <a:bodyPr/>
          <a:lstStyle/>
          <a:p>
            <a:pPr marL="0" lvl="0" indent="0">
              <a:buNone/>
            </a:pPr>
            <a:r>
              <a:rPr sz="6000" dirty="0"/>
              <a:t>Types of </a:t>
            </a:r>
            <a:r>
              <a:rPr lang="en-US" sz="6000"/>
              <a:t>APIs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042427"/>
            <a:ext cx="6619244" cy="646065"/>
          </a:xfrm>
        </p:spPr>
        <p:txBody>
          <a:bodyPr/>
          <a:lstStyle/>
          <a:p>
            <a:pPr marL="0" lvl="0" indent="0">
              <a:buNone/>
            </a:pPr>
            <a:r>
              <a:t>Building Secure, Scalable, Fault-Tolerant and Low-Latency APIs with Java &amp; Spring Boot</a:t>
            </a:r>
            <a:br/>
            <a:br/>
            <a:r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Types of APIs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Different systems have different needs:</a:t>
            </a:r>
            <a:endParaRPr lang="en-US" dirty="0"/>
          </a:p>
          <a:p>
            <a:pPr lvl="0"/>
            <a:r>
              <a:rPr dirty="0"/>
              <a:t>Performance requirements</a:t>
            </a:r>
          </a:p>
          <a:p>
            <a:pPr lvl="0"/>
            <a:r>
              <a:rPr dirty="0"/>
              <a:t>Data complexity</a:t>
            </a:r>
          </a:p>
          <a:p>
            <a:pPr lvl="0"/>
            <a:r>
              <a:rPr dirty="0"/>
              <a:t>Real-time communication</a:t>
            </a:r>
          </a:p>
          <a:p>
            <a:pPr lvl="0"/>
            <a:r>
              <a:rPr dirty="0"/>
              <a:t>Scalability</a:t>
            </a:r>
          </a:p>
          <a:p>
            <a:pPr lvl="0"/>
            <a:r>
              <a:rPr dirty="0"/>
              <a:t>Ease of development</a:t>
            </a:r>
          </a:p>
          <a:p>
            <a:pPr lvl="0"/>
            <a:r>
              <a:rPr dirty="0"/>
              <a:t>Compatibility with existing tools</a:t>
            </a:r>
          </a:p>
          <a:p>
            <a:pPr marL="0" lvl="0" indent="0">
              <a:buNone/>
            </a:pPr>
            <a:r>
              <a:rPr dirty="0"/>
              <a:t>No single API style solves all problems perfectly.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0"/>
            <a:r>
              <a:rPr dirty="0"/>
              <a:t>Exposed to external developers.</a:t>
            </a:r>
            <a:endParaRPr lang="en-US" dirty="0"/>
          </a:p>
          <a:p>
            <a:pPr lvl="0"/>
            <a:r>
              <a:rPr dirty="0"/>
              <a:t>Used by third-party applications.</a:t>
            </a:r>
          </a:p>
          <a:p>
            <a:pPr lvl="0"/>
            <a:r>
              <a:rPr dirty="0"/>
              <a:t>Usually secured with API keys, OAuth, or tokens.</a:t>
            </a:r>
          </a:p>
          <a:p>
            <a:pPr marL="0" indent="0">
              <a:buNone/>
            </a:pPr>
            <a:r>
              <a:rPr b="1" dirty="0"/>
              <a:t>Examples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dirty="0"/>
              <a:t>- Payment gateways</a:t>
            </a:r>
            <a:r>
              <a:rPr lang="en-US" dirty="0"/>
              <a:t>,</a:t>
            </a:r>
            <a:r>
              <a:rPr dirty="0"/>
              <a:t> Weather services</a:t>
            </a:r>
            <a:r>
              <a:rPr lang="en-US" dirty="0"/>
              <a:t>,</a:t>
            </a:r>
            <a:r>
              <a:rPr dirty="0"/>
              <a:t> Maps services</a:t>
            </a:r>
            <a:r>
              <a:rPr lang="en-US" dirty="0"/>
              <a:t>, </a:t>
            </a:r>
            <a:r>
              <a:rPr dirty="0"/>
              <a:t>Social media APIs</a:t>
            </a:r>
            <a:endParaRPr lang="en-US" dirty="0"/>
          </a:p>
          <a:p>
            <a:pPr marL="0" indent="0">
              <a:buNone/>
            </a:pPr>
            <a:r>
              <a:rPr b="1" dirty="0"/>
              <a:t>Characteristics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dirty="0"/>
              <a:t>- High security requirements</a:t>
            </a:r>
            <a:r>
              <a:rPr lang="en-US" dirty="0"/>
              <a:t>,</a:t>
            </a:r>
            <a:r>
              <a:rPr dirty="0"/>
              <a:t> Strong </a:t>
            </a:r>
            <a:r>
              <a:rPr lang="en-US" dirty="0"/>
              <a:t>documentation, Rate</a:t>
            </a:r>
            <a:r>
              <a:rPr dirty="0"/>
              <a:t> limiting</a:t>
            </a:r>
            <a:r>
              <a:rPr lang="en-US" dirty="0"/>
              <a:t>, </a:t>
            </a:r>
            <a:r>
              <a:rPr dirty="0"/>
              <a:t>Monitoring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4B43C-21AA-D6A1-609F-9402C9D57D7C}"/>
              </a:ext>
            </a:extLst>
          </p:cNvPr>
          <p:cNvSpPr txBox="1"/>
          <p:nvPr/>
        </p:nvSpPr>
        <p:spPr>
          <a:xfrm>
            <a:off x="756852" y="625561"/>
            <a:ext cx="75916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EBEBEB"/>
                </a:solidFill>
                <a:latin typeface="Century Gothic"/>
              </a:rPr>
              <a:t>Public APIs (Open APIs)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Private APIs (Internal APIs)</a:t>
            </a:r>
          </a:p>
          <a:p>
            <a:pPr lvl="0"/>
            <a:r>
              <a:rPr dirty="0"/>
              <a:t>Used only inside an organization.</a:t>
            </a:r>
          </a:p>
          <a:p>
            <a:pPr lvl="0"/>
            <a:r>
              <a:rPr dirty="0"/>
              <a:t>Connect internal services and systems.</a:t>
            </a:r>
          </a:p>
          <a:p>
            <a:pPr lvl="0"/>
            <a:r>
              <a:rPr dirty="0"/>
              <a:t>Often power microservices architectures.</a:t>
            </a:r>
          </a:p>
          <a:p>
            <a:pPr marL="0" indent="0">
              <a:buNone/>
            </a:pPr>
            <a:r>
              <a:rPr b="1" dirty="0"/>
              <a:t>Characteristics</a:t>
            </a:r>
            <a:r>
              <a:rPr dirty="0"/>
              <a:t>: </a:t>
            </a:r>
            <a:endParaRPr lang="en-US" dirty="0"/>
          </a:p>
          <a:p>
            <a:pPr marL="0" lvl="0" indent="0">
              <a:buNone/>
            </a:pPr>
            <a:r>
              <a:rPr dirty="0"/>
              <a:t>- Faster evolution - Controlled access - Less public documentation - Optimized for internal performance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82E31-D67B-0F3D-05F4-DE7FA88D1A15}"/>
              </a:ext>
            </a:extLst>
          </p:cNvPr>
          <p:cNvSpPr txBox="1"/>
          <p:nvPr/>
        </p:nvSpPr>
        <p:spPr>
          <a:xfrm>
            <a:off x="556055" y="625561"/>
            <a:ext cx="78928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EBEBEB"/>
                </a:solidFill>
                <a:latin typeface="Century Gothic"/>
              </a:rPr>
              <a:t>Private APIs (Internal APIs)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Partner APIs</a:t>
            </a:r>
          </a:p>
          <a:p>
            <a:pPr lvl="0"/>
            <a:r>
              <a:rPr dirty="0"/>
              <a:t>Shared with selected partners.</a:t>
            </a:r>
          </a:p>
          <a:p>
            <a:pPr lvl="0"/>
            <a:r>
              <a:rPr dirty="0"/>
              <a:t>Access is restricted and governed by contracts.</a:t>
            </a:r>
          </a:p>
          <a:p>
            <a:pPr lvl="0"/>
            <a:r>
              <a:rPr dirty="0"/>
              <a:t>Used in B2B integrations.</a:t>
            </a:r>
          </a:p>
          <a:p>
            <a:pPr marL="0" indent="0">
              <a:buNone/>
            </a:pPr>
            <a:r>
              <a:rPr b="1" dirty="0"/>
              <a:t>Examples</a:t>
            </a:r>
            <a:r>
              <a:rPr dirty="0"/>
              <a:t>: </a:t>
            </a:r>
            <a:endParaRPr lang="en-US" dirty="0"/>
          </a:p>
          <a:p>
            <a:pPr marL="0" lvl="0" indent="0">
              <a:buNone/>
            </a:pPr>
            <a:r>
              <a:rPr dirty="0"/>
              <a:t>- Logistics integrations - Banking integrations - Enterprise data sharing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CBB4BA-3692-C504-B5B3-F2A81FA9EA39}"/>
              </a:ext>
            </a:extLst>
          </p:cNvPr>
          <p:cNvSpPr txBox="1"/>
          <p:nvPr/>
        </p:nvSpPr>
        <p:spPr>
          <a:xfrm>
            <a:off x="780021" y="617838"/>
            <a:ext cx="73059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EBEBEB"/>
                </a:solidFill>
                <a:latin typeface="Century Gothic"/>
              </a:rPr>
              <a:t>Partner APIs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F425-FFF3-5783-A7B6-C4BF12A5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81A1-AD44-4866-710A-1EF63354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7443755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sz="3200"/>
              <a:t>API Styles (Architectural Styles)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42943-DA84-63E7-812A-AA9267696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3000"/>
              </a:spcBef>
            </a:pPr>
            <a:r>
              <a:rPr lang="en-US" sz="1200" b="1" dirty="0"/>
              <a:t>REST (Representational State Transfer)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Most common API style on the web.</a:t>
            </a:r>
          </a:p>
          <a:p>
            <a:pPr marL="0" indent="0">
              <a:buNone/>
            </a:pPr>
            <a:r>
              <a:rPr lang="en-US" sz="1200" b="1" dirty="0"/>
              <a:t>Key characteristics</a:t>
            </a:r>
            <a:r>
              <a:rPr lang="en-US" sz="1200" dirty="0"/>
              <a:t>: </a:t>
            </a:r>
          </a:p>
          <a:p>
            <a:pPr indent="-342900"/>
            <a:r>
              <a:rPr lang="en-US" sz="1200" dirty="0"/>
              <a:t>Uses HTTP methods (GET, POST, PUT, DELETE)</a:t>
            </a:r>
          </a:p>
          <a:p>
            <a:r>
              <a:rPr lang="en-US" sz="1200" dirty="0"/>
              <a:t>    Stateless communication </a:t>
            </a:r>
          </a:p>
          <a:p>
            <a:r>
              <a:rPr lang="en-US" sz="1200" dirty="0"/>
              <a:t>Resources identified by URLs </a:t>
            </a:r>
          </a:p>
          <a:p>
            <a:r>
              <a:rPr lang="en-US" sz="1200" dirty="0"/>
              <a:t>Uses JSON or XML payloads</a:t>
            </a:r>
          </a:p>
          <a:p>
            <a:pPr marL="0" indent="0">
              <a:buNone/>
            </a:pPr>
            <a:r>
              <a:rPr lang="en-US" sz="1200" b="1" dirty="0"/>
              <a:t>Example</a:t>
            </a:r>
            <a:r>
              <a:rPr lang="en-US" sz="1200" dirty="0"/>
              <a:t>:</a:t>
            </a:r>
          </a:p>
          <a:p>
            <a:pPr indent="0">
              <a:buNone/>
            </a:pPr>
            <a:r>
              <a:rPr lang="en-US" sz="1200" dirty="0">
                <a:latin typeface="Courier"/>
              </a:rPr>
              <a:t>
GET /</a:t>
            </a:r>
            <a:r>
              <a:rPr lang="en-US" sz="1200" err="1">
                <a:latin typeface="Courier"/>
              </a:rPr>
              <a:t>api</a:t>
            </a:r>
            <a:r>
              <a:rPr lang="en-US" sz="1200" dirty="0">
                <a:latin typeface="Courier"/>
              </a:rPr>
              <a:t>/products/10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0507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443755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sz="3200"/>
              <a:t>API Styles (Architectural Styles)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Benefits</a:t>
            </a:r>
            <a:r>
              <a:rPr lang="en-US" dirty="0"/>
              <a:t>: </a:t>
            </a:r>
          </a:p>
          <a:p>
            <a:pPr marL="285750" indent="-285750">
              <a:spcBef>
                <a:spcPts val="3000"/>
              </a:spcBef>
            </a:pPr>
            <a:r>
              <a:rPr lang="en-US" dirty="0"/>
              <a:t>Simple</a:t>
            </a:r>
            <a:r>
              <a:rPr dirty="0"/>
              <a:t> </a:t>
            </a:r>
            <a:r>
              <a:rPr lang="en-US" dirty="0"/>
              <a:t>- </a:t>
            </a:r>
            <a:r>
              <a:rPr dirty="0"/>
              <a:t>Scalable</a:t>
            </a:r>
            <a:r>
              <a:rPr lang="en-US" dirty="0"/>
              <a:t> - </a:t>
            </a:r>
            <a:r>
              <a:rPr dirty="0"/>
              <a:t>Cacheable </a:t>
            </a:r>
            <a:r>
              <a:rPr lang="en-US" dirty="0"/>
              <a:t>- </a:t>
            </a:r>
            <a:r>
              <a:rPr dirty="0"/>
              <a:t>Widely supported</a:t>
            </a:r>
            <a:endParaRPr lang="en-US" dirty="0"/>
          </a:p>
          <a:p>
            <a:pPr marL="0" indent="0">
              <a:spcBef>
                <a:spcPts val="300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b="1" dirty="0"/>
              <a:t>Limitations</a:t>
            </a:r>
            <a:r>
              <a:rPr dirty="0"/>
              <a:t>: </a:t>
            </a:r>
            <a:endParaRPr lang="en-US" dirty="0"/>
          </a:p>
          <a:p>
            <a:pPr marL="285750" indent="-285750"/>
            <a:r>
              <a:rPr dirty="0"/>
              <a:t>Can over-fetch or under-fetch data - Multiple calls may be required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974A-74C8-64D7-7389-E9D8EA321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A826A-0184-A7C2-086C-EC46A464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lvl="0" indent="-285750">
              <a:spcBef>
                <a:spcPts val="3000"/>
              </a:spcBef>
            </a:pPr>
            <a:r>
              <a:rPr b="1" err="1"/>
              <a:t>GraphQL</a:t>
            </a:r>
            <a:endParaRPr lang="en-US" err="1"/>
          </a:p>
          <a:p>
            <a:pPr marL="0" lvl="0" indent="0">
              <a:buNone/>
            </a:pPr>
            <a:r>
              <a:rPr dirty="0"/>
              <a:t>Client specifies exactly what data it needs.</a:t>
            </a:r>
          </a:p>
          <a:p>
            <a:pPr marL="0" lvl="0" indent="0">
              <a:buNone/>
            </a:pPr>
            <a:r>
              <a:rPr b="1" dirty="0"/>
              <a:t>Example query:</a:t>
            </a:r>
          </a:p>
          <a:p>
            <a:pPr lvl="0" indent="0">
              <a:buNone/>
            </a:pPr>
            <a:r>
              <a:rPr dirty="0">
                <a:solidFill>
                  <a:schemeClr val="accent3">
                    <a:lumMod val="76000"/>
                  </a:schemeClr>
                </a:solidFill>
                <a:latin typeface="Courier"/>
              </a:rPr>
              <a:t>{</a:t>
            </a:r>
            <a:br>
              <a:rPr dirty="0">
                <a:solidFill>
                  <a:schemeClr val="accent3">
                    <a:lumMod val="76000"/>
                  </a:schemeClr>
                </a:solidFill>
              </a:rPr>
            </a:br>
            <a:r>
              <a:rPr dirty="0">
                <a:solidFill>
                  <a:schemeClr val="accent3">
                    <a:lumMod val="76000"/>
                  </a:schemeClr>
                </a:solidFill>
                <a:latin typeface="Courier"/>
              </a:rPr>
              <a:t>  user(id: 1) {</a:t>
            </a:r>
            <a:br>
              <a:rPr dirty="0">
                <a:solidFill>
                  <a:schemeClr val="accent3">
                    <a:lumMod val="76000"/>
                  </a:schemeClr>
                </a:solidFill>
              </a:rPr>
            </a:br>
            <a:r>
              <a:rPr dirty="0">
                <a:solidFill>
                  <a:schemeClr val="accent3">
                    <a:lumMod val="76000"/>
                  </a:schemeClr>
                </a:solidFill>
                <a:latin typeface="Courier"/>
              </a:rPr>
              <a:t>    name</a:t>
            </a:r>
            <a:br>
              <a:rPr dirty="0">
                <a:solidFill>
                  <a:schemeClr val="accent3">
                    <a:lumMod val="76000"/>
                  </a:schemeClr>
                </a:solidFill>
              </a:rPr>
            </a:br>
            <a:r>
              <a:rPr dirty="0">
                <a:solidFill>
                  <a:schemeClr val="accent3">
                    <a:lumMod val="76000"/>
                  </a:schemeClr>
                </a:solidFill>
                <a:latin typeface="Courier"/>
              </a:rPr>
              <a:t>    email</a:t>
            </a:r>
            <a:br>
              <a:rPr dirty="0">
                <a:solidFill>
                  <a:schemeClr val="accent3">
                    <a:lumMod val="76000"/>
                  </a:schemeClr>
                </a:solidFill>
              </a:rPr>
            </a:br>
            <a:r>
              <a:rPr dirty="0">
                <a:solidFill>
                  <a:schemeClr val="accent3">
                    <a:lumMod val="76000"/>
                  </a:schemeClr>
                </a:solidFill>
                <a:latin typeface="Courier"/>
              </a:rPr>
              <a:t>  }</a:t>
            </a:r>
            <a:br>
              <a:rPr dirty="0">
                <a:solidFill>
                  <a:schemeClr val="accent3">
                    <a:lumMod val="76000"/>
                  </a:schemeClr>
                </a:solidFill>
              </a:rPr>
            </a:br>
            <a:r>
              <a:rPr dirty="0">
                <a:solidFill>
                  <a:schemeClr val="accent3">
                    <a:lumMod val="76000"/>
                  </a:schemeClr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D25D76-A1D6-829A-7129-4A352AED5C51}"/>
              </a:ext>
            </a:extLst>
          </p:cNvPr>
          <p:cNvSpPr txBox="1"/>
          <p:nvPr/>
        </p:nvSpPr>
        <p:spPr>
          <a:xfrm>
            <a:off x="749508" y="697980"/>
            <a:ext cx="763561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aseline="0">
                <a:solidFill>
                  <a:srgbClr val="EBEBEB"/>
                </a:solidFill>
                <a:latin typeface="Century Gothic"/>
              </a:rPr>
              <a:t>API Styles (Architectural Styles)</a:t>
            </a:r>
            <a:r>
              <a:rPr sz="3200">
                <a:latin typeface="Century Gothic"/>
                <a:ea typeface="Century Gothic"/>
                <a:cs typeface="Century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37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285750" indent="-285750">
              <a:spcBef>
                <a:spcPts val="3000"/>
              </a:spcBef>
            </a:pPr>
            <a:r>
              <a:rPr lang="en-US" b="1" dirty="0" err="1"/>
              <a:t>GraphQL</a:t>
            </a:r>
            <a:endParaRPr lang="en-US" dirty="0" err="1"/>
          </a:p>
          <a:p>
            <a:pPr marL="0" lvl="0" indent="0">
              <a:buNone/>
            </a:pPr>
            <a:r>
              <a:rPr b="1" dirty="0"/>
              <a:t>Benefits</a:t>
            </a:r>
            <a:r>
              <a:rPr dirty="0"/>
              <a:t>: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Precise data fetching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Fewer network calls</a:t>
            </a:r>
          </a:p>
          <a:p>
            <a:pPr lvl="1">
              <a:buFont typeface="Courier New" charset="2"/>
              <a:buChar char="o"/>
            </a:pPr>
            <a:r>
              <a:rPr dirty="0"/>
              <a:t>Strong schema validation</a:t>
            </a:r>
          </a:p>
          <a:p>
            <a:pPr marL="0" lvl="0" indent="0">
              <a:buNone/>
            </a:pPr>
            <a:r>
              <a:rPr b="1" dirty="0"/>
              <a:t>Limitations: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More complex infrastructure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Caching is harder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Learning curve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C5B94-2D72-83CE-49BC-58F3F5145C2A}"/>
              </a:ext>
            </a:extLst>
          </p:cNvPr>
          <p:cNvSpPr txBox="1"/>
          <p:nvPr/>
        </p:nvSpPr>
        <p:spPr>
          <a:xfrm>
            <a:off x="749508" y="697980"/>
            <a:ext cx="763561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aseline="0">
                <a:solidFill>
                  <a:srgbClr val="EBEBEB"/>
                </a:solidFill>
                <a:latin typeface="Century Gothic"/>
              </a:rPr>
              <a:t>API Styles (Architectural Styles)</a:t>
            </a:r>
            <a:r>
              <a:rPr sz="3200">
                <a:latin typeface="Century Gothic"/>
                <a:ea typeface="Century Gothic"/>
                <a:cs typeface="Century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684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lvl="0" indent="-285750">
              <a:spcBef>
                <a:spcPts val="3000"/>
              </a:spcBef>
            </a:pPr>
            <a:r>
              <a:rPr b="1" err="1"/>
              <a:t>gRPC</a:t>
            </a:r>
            <a:endParaRPr lang="en-US" b="1" err="1"/>
          </a:p>
          <a:p>
            <a:pPr marL="0" lvl="0" indent="0">
              <a:buNone/>
            </a:pPr>
            <a:r>
              <a:rPr dirty="0"/>
              <a:t>High-performance binary protocol.</a:t>
            </a:r>
          </a:p>
          <a:p>
            <a:pPr marL="0" lvl="0" indent="0">
              <a:buNone/>
            </a:pPr>
            <a:r>
              <a:rPr b="1" dirty="0"/>
              <a:t>Characteristics</a:t>
            </a:r>
            <a:r>
              <a:rPr dirty="0"/>
              <a:t>: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Uses Protocol Buffers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Strong typing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Very fast serialization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Ideal for microservices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1A532-3B03-82E6-25CF-B0E8A433ADAE}"/>
              </a:ext>
            </a:extLst>
          </p:cNvPr>
          <p:cNvSpPr txBox="1"/>
          <p:nvPr/>
        </p:nvSpPr>
        <p:spPr>
          <a:xfrm>
            <a:off x="749508" y="697980"/>
            <a:ext cx="763561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aseline="0">
                <a:solidFill>
                  <a:srgbClr val="EBEBEB"/>
                </a:solidFill>
                <a:latin typeface="Century Gothic"/>
              </a:rPr>
              <a:t>API Styles (Architectural Styles)</a:t>
            </a:r>
            <a:r>
              <a:rPr sz="3200">
                <a:latin typeface="Century Gothic"/>
                <a:ea typeface="Century Gothic"/>
                <a:cs typeface="Century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A29B-7592-0E36-6346-050D4B4DC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7349-81F9-2443-B398-CB99241B8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30642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lvl="0" indent="-285750">
              <a:spcBef>
                <a:spcPts val="3000"/>
              </a:spcBef>
            </a:pPr>
            <a:r>
              <a:rPr b="1" dirty="0" err="1"/>
              <a:t>gRPC</a:t>
            </a:r>
            <a:endParaRPr lang="en-US" b="1" dirty="0" err="1"/>
          </a:p>
          <a:p>
            <a:pPr marL="0" lvl="0" indent="0">
              <a:buNone/>
            </a:pPr>
            <a:r>
              <a:rPr b="1" dirty="0"/>
              <a:t>Benefits</a:t>
            </a:r>
            <a:r>
              <a:rPr dirty="0"/>
              <a:t>: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Extremely fast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Efficient network usage</a:t>
            </a:r>
          </a:p>
          <a:p>
            <a:pPr marL="0" lvl="0" indent="0">
              <a:buNone/>
            </a:pPr>
            <a:r>
              <a:rPr b="1" dirty="0"/>
              <a:t>Limitations</a:t>
            </a:r>
            <a:r>
              <a:rPr dirty="0"/>
              <a:t>: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Not human-readable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Browser support is limited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Harder debugging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6D2C1-C3D3-D406-1849-FD2FAEF02486}"/>
              </a:ext>
            </a:extLst>
          </p:cNvPr>
          <p:cNvSpPr txBox="1"/>
          <p:nvPr/>
        </p:nvSpPr>
        <p:spPr>
          <a:xfrm>
            <a:off x="749508" y="697980"/>
            <a:ext cx="763561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aseline="0">
                <a:solidFill>
                  <a:srgbClr val="EBEBEB"/>
                </a:solidFill>
                <a:latin typeface="Century Gothic"/>
              </a:rPr>
              <a:t>API Styles (Architectural Styles)</a:t>
            </a:r>
            <a:r>
              <a:rPr sz="3200">
                <a:latin typeface="Century Gothic"/>
                <a:ea typeface="Century Gothic"/>
                <a:cs typeface="Century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41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285750" lvl="0" indent="-285750">
              <a:spcBef>
                <a:spcPts val="3000"/>
              </a:spcBef>
            </a:pPr>
            <a:r>
              <a:rPr b="1" err="1"/>
              <a:t>WebSockets</a:t>
            </a:r>
            <a:endParaRPr lang="en-US" err="1"/>
          </a:p>
          <a:p>
            <a:pPr marL="0" lvl="0" indent="0">
              <a:buNone/>
            </a:pPr>
            <a:r>
              <a:rPr dirty="0"/>
              <a:t>Real-time bidirectional communication.</a:t>
            </a:r>
          </a:p>
          <a:p>
            <a:pPr marL="0" lvl="0" indent="0">
              <a:buNone/>
            </a:pPr>
            <a:r>
              <a:rPr b="1" dirty="0"/>
              <a:t>Use cases</a:t>
            </a:r>
            <a:r>
              <a:rPr dirty="0"/>
              <a:t>: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Chat applications</a:t>
            </a:r>
          </a:p>
          <a:p>
            <a:pPr lvl="1">
              <a:buFont typeface="Courier New" charset="2"/>
              <a:buChar char="o"/>
            </a:pPr>
            <a:r>
              <a:rPr dirty="0"/>
              <a:t>Live dashboards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Multiplayer games</a:t>
            </a:r>
          </a:p>
          <a:p>
            <a:pPr lvl="1">
              <a:buFont typeface="Courier New" charset="2"/>
              <a:buChar char="o"/>
            </a:pPr>
            <a:r>
              <a:rPr dirty="0"/>
              <a:t>Real-time monitoring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5DD70-2D12-F22A-2D6E-5B63F0A40366}"/>
              </a:ext>
            </a:extLst>
          </p:cNvPr>
          <p:cNvSpPr txBox="1"/>
          <p:nvPr/>
        </p:nvSpPr>
        <p:spPr>
          <a:xfrm>
            <a:off x="749508" y="697980"/>
            <a:ext cx="763561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aseline="0">
                <a:solidFill>
                  <a:srgbClr val="EBEBEB"/>
                </a:solidFill>
                <a:latin typeface="Century Gothic"/>
              </a:rPr>
              <a:t>API Styles (Architectural Styles)</a:t>
            </a:r>
            <a:r>
              <a:rPr sz="3200">
                <a:latin typeface="Century Gothic"/>
                <a:ea typeface="Century Gothic"/>
                <a:cs typeface="Century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7BD6-3722-7322-7238-C6D86883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88DFF-62C3-3851-25A2-AEA687285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285750" lvl="0" indent="-285750">
              <a:spcBef>
                <a:spcPts val="3000"/>
              </a:spcBef>
            </a:pPr>
            <a:r>
              <a:rPr b="1" dirty="0" err="1"/>
              <a:t>WebSockets</a:t>
            </a:r>
            <a:endParaRPr lang="en-US" dirty="0" err="1"/>
          </a:p>
          <a:p>
            <a:pPr marL="0" lvl="0" indent="0">
              <a:buNone/>
            </a:pPr>
            <a:r>
              <a:rPr b="1" dirty="0"/>
              <a:t>Benefits</a:t>
            </a:r>
            <a:r>
              <a:rPr dirty="0"/>
              <a:t>: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Low latency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Continuous connection</a:t>
            </a:r>
          </a:p>
          <a:p>
            <a:pPr marL="0" lvl="0" indent="0">
              <a:buNone/>
            </a:pPr>
            <a:r>
              <a:rPr b="1" dirty="0"/>
              <a:t>Limitations</a:t>
            </a:r>
            <a:r>
              <a:rPr dirty="0"/>
              <a:t>: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More complex scaling</a:t>
            </a:r>
          </a:p>
          <a:p>
            <a:pPr lvl="1" indent="-342900">
              <a:buFont typeface="Courier New" charset="2"/>
              <a:buChar char="o"/>
            </a:pPr>
            <a:r>
              <a:rPr dirty="0"/>
              <a:t>Connection management overhead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FEFDB-609F-1618-9C49-1FD44455BD7F}"/>
              </a:ext>
            </a:extLst>
          </p:cNvPr>
          <p:cNvSpPr txBox="1"/>
          <p:nvPr/>
        </p:nvSpPr>
        <p:spPr>
          <a:xfrm>
            <a:off x="749508" y="697980"/>
            <a:ext cx="763561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aseline="0">
                <a:solidFill>
                  <a:srgbClr val="EBEBEB"/>
                </a:solidFill>
                <a:latin typeface="Century Gothic"/>
              </a:rPr>
              <a:t>API Styles (Architectural Styles)</a:t>
            </a:r>
            <a:r>
              <a:rPr sz="3200">
                <a:latin typeface="Century Gothic"/>
                <a:ea typeface="Century Gothic"/>
                <a:cs typeface="Century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74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When to Use What?</a:t>
            </a:r>
          </a:p>
          <a:p>
            <a:pPr lvl="0"/>
            <a:r>
              <a:t>REST → Most web and mobile APIs</a:t>
            </a:r>
          </a:p>
          <a:p>
            <a:pPr lvl="0"/>
            <a:r>
              <a:t>GraphQL → Complex data requirements</a:t>
            </a:r>
          </a:p>
          <a:p>
            <a:pPr lvl="0"/>
            <a:r>
              <a:t>gRPC → High-performance internal services</a:t>
            </a:r>
          </a:p>
          <a:p>
            <a:pPr lvl="0"/>
            <a:r>
              <a:t>WebSockets → Real-time systems</a:t>
            </a:r>
          </a:p>
          <a:p>
            <a:pPr marL="0" lvl="0" indent="0">
              <a:buNone/>
            </a:pPr>
            <a:r>
              <a:t>There is no universal best choice.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B95B8-1359-E67B-DEA8-4896EA72816C}"/>
              </a:ext>
            </a:extLst>
          </p:cNvPr>
          <p:cNvSpPr txBox="1"/>
          <p:nvPr/>
        </p:nvSpPr>
        <p:spPr>
          <a:xfrm>
            <a:off x="749508" y="697980"/>
            <a:ext cx="763561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aseline="0">
                <a:solidFill>
                  <a:srgbClr val="EBEBEB"/>
                </a:solidFill>
                <a:latin typeface="Century Gothic"/>
              </a:rPr>
              <a:t>API Styles (Architectural Styles)</a:t>
            </a:r>
            <a:r>
              <a:rPr sz="3200">
                <a:latin typeface="Century Gothic"/>
                <a:ea typeface="Century Gothic"/>
                <a:cs typeface="Century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API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Important Clarification</a:t>
            </a:r>
          </a:p>
          <a:p>
            <a:pPr marL="285750" lvl="0" indent="-285750"/>
            <a:r>
              <a:rPr dirty="0"/>
              <a:t>An API is </a:t>
            </a:r>
            <a:r>
              <a:rPr b="1" dirty="0"/>
              <a:t>not just controllers</a:t>
            </a:r>
            <a:r>
              <a:rPr dirty="0"/>
              <a:t>. An API is a </a:t>
            </a:r>
            <a:r>
              <a:rPr b="1" dirty="0"/>
              <a:t>full system composed of multiple layers</a:t>
            </a:r>
            <a:r>
              <a:rPr dirty="0"/>
              <a:t> working together.</a:t>
            </a:r>
          </a:p>
          <a:p>
            <a:pPr marL="285750" lvl="0" indent="-285750"/>
            <a:r>
              <a:rPr dirty="0"/>
              <a:t>Most production APIs follow a </a:t>
            </a:r>
            <a:r>
              <a:rPr b="1" dirty="0"/>
              <a:t>Layered Architecture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214A4A-7025-9215-8D95-8D6B0304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22" y="596796"/>
            <a:ext cx="3472088" cy="488118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2800" dirty="0"/>
              <a:t>API Architecture</a:t>
            </a:r>
          </a:p>
        </p:txBody>
      </p:sp>
      <p:pic>
        <p:nvPicPr>
          <p:cNvPr id="23" name="Content Placeholder 22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36269260-4B82-D0F2-828F-1EE75A6F0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9488" y="-934"/>
            <a:ext cx="4131662" cy="514349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5CCFF6-1E41-163D-6E8E-5E33E3861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9666" y="3836608"/>
            <a:ext cx="3087966" cy="8694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50" dirty="0"/>
              <a:t>Each Layer has a clear responsibility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E607D55-AE03-1F8C-8D13-79697FE2ECC3}"/>
              </a:ext>
            </a:extLst>
          </p:cNvPr>
          <p:cNvSpPr txBox="1">
            <a:spLocks/>
          </p:cNvSpPr>
          <p:nvPr/>
        </p:nvSpPr>
        <p:spPr bwMode="gray">
          <a:xfrm>
            <a:off x="-161858" y="1564286"/>
            <a:ext cx="3472088" cy="5724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67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200" dirty="0"/>
              <a:t>Typical Layered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35E03C9-44AF-3DFD-E3B0-46AC8567C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API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API Layer (Controller Layer)</a:t>
            </a:r>
          </a:p>
          <a:p>
            <a:pPr marL="0" lvl="0" indent="0">
              <a:buNone/>
            </a:pPr>
            <a:r>
              <a:rPr dirty="0"/>
              <a:t>Responsibilities:</a:t>
            </a:r>
          </a:p>
          <a:p>
            <a:pPr lvl="0"/>
            <a:r>
              <a:rPr dirty="0"/>
              <a:t>Receives HTTP requests</a:t>
            </a:r>
          </a:p>
          <a:p>
            <a:pPr lvl="0"/>
            <a:r>
              <a:rPr dirty="0"/>
              <a:t>Validates input</a:t>
            </a:r>
          </a:p>
          <a:p>
            <a:pPr lvl="0"/>
            <a:r>
              <a:rPr dirty="0"/>
              <a:t>Maps requests to business logic</a:t>
            </a:r>
          </a:p>
          <a:p>
            <a:pPr lvl="0"/>
            <a:r>
              <a:rPr dirty="0"/>
              <a:t>Returns HTTP responses</a:t>
            </a:r>
          </a:p>
          <a:p>
            <a:pPr lvl="0"/>
            <a:r>
              <a:rPr dirty="0"/>
              <a:t>Handles status codes and errors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5C4F3-E6FA-2BB0-15EB-A04C868E19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In Spring Boot:</a:t>
            </a:r>
            <a:endParaRPr lang="en-US" b="1">
              <a:solidFill>
                <a:srgbClr val="000000"/>
              </a:solidFill>
            </a:endParaRPr>
          </a:p>
          <a:p>
            <a:r>
              <a:rPr lang="en-US" dirty="0"/>
              <a:t>Annotated with </a:t>
            </a:r>
            <a:r>
              <a:rPr lang="en-US" dirty="0">
                <a:latin typeface="Courier"/>
              </a:rPr>
              <a:t>@RestController</a:t>
            </a:r>
            <a:endParaRPr lang="en-US" dirty="0">
              <a:solidFill>
                <a:srgbClr val="000000"/>
              </a:solidFill>
              <a:latin typeface="Courier"/>
            </a:endParaRPr>
          </a:p>
          <a:p>
            <a:r>
              <a:rPr lang="en-US" dirty="0"/>
              <a:t>Defines endpoints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This layer should be thin.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7AC9B5-5C36-AD6F-FB03-E08DD24FA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API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Business Logic Layer (Service Layer)</a:t>
            </a:r>
          </a:p>
          <a:p>
            <a:pPr marL="0" lvl="0" indent="0">
              <a:buNone/>
            </a:pPr>
            <a:r>
              <a:rPr dirty="0"/>
              <a:t>Responsibilities:</a:t>
            </a:r>
          </a:p>
          <a:p>
            <a:pPr lvl="0"/>
            <a:r>
              <a:rPr dirty="0"/>
              <a:t>Core business rules</a:t>
            </a:r>
          </a:p>
          <a:p>
            <a:pPr lvl="0"/>
            <a:r>
              <a:rPr dirty="0"/>
              <a:t>Validation logic</a:t>
            </a:r>
          </a:p>
          <a:p>
            <a:pPr lvl="0"/>
            <a:r>
              <a:rPr dirty="0"/>
              <a:t>Transactions</a:t>
            </a:r>
          </a:p>
          <a:p>
            <a:pPr lvl="0"/>
            <a:r>
              <a:rPr dirty="0"/>
              <a:t>Orchestration of multiple repositories or services</a:t>
            </a:r>
          </a:p>
          <a:p>
            <a:pPr lvl="0"/>
            <a:r>
              <a:rPr dirty="0"/>
              <a:t>Security checks (sometimes)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8A03EE-EEAA-8CC5-778B-DCBBCD0561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In Spring Boot: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dirty="0"/>
              <a:t>Annotated with </a:t>
            </a:r>
            <a:r>
              <a:rPr lang="en-US" dirty="0">
                <a:latin typeface="Courier"/>
              </a:rPr>
              <a:t>@Service</a:t>
            </a:r>
            <a:endParaRPr lang="en-US" dirty="0">
              <a:solidFill>
                <a:srgbClr val="000000"/>
              </a:solidFill>
              <a:latin typeface="Courier"/>
            </a:endParaRPr>
          </a:p>
          <a:p>
            <a:r>
              <a:rPr lang="en-US" dirty="0"/>
              <a:t>This is where most application logic lives.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938537-01EA-5EE7-6E2D-9062BD0D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API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Data Access Layer (Repository Layer)</a:t>
            </a:r>
          </a:p>
          <a:p>
            <a:pPr marL="0" lvl="0" indent="0">
              <a:buNone/>
            </a:pPr>
            <a:r>
              <a:rPr dirty="0"/>
              <a:t>Responsibilities:</a:t>
            </a:r>
          </a:p>
          <a:p>
            <a:pPr lvl="0"/>
            <a:r>
              <a:rPr dirty="0"/>
              <a:t>Interacts with the database</a:t>
            </a:r>
          </a:p>
          <a:p>
            <a:pPr lvl="0"/>
            <a:r>
              <a:rPr dirty="0"/>
              <a:t>Executes queries</a:t>
            </a:r>
          </a:p>
          <a:p>
            <a:pPr lvl="0"/>
            <a:r>
              <a:rPr dirty="0"/>
              <a:t>Maps entities to tables</a:t>
            </a:r>
          </a:p>
          <a:p>
            <a:pPr lvl="0"/>
            <a:r>
              <a:rPr dirty="0"/>
              <a:t>Handles persistence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3EBD26-EF5B-A791-AFE5-EFA4C16563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 Spring Boot: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dirty="0"/>
              <a:t>Annotated with </a:t>
            </a:r>
            <a:r>
              <a:rPr lang="en-US" dirty="0">
                <a:latin typeface="Courier"/>
              </a:rPr>
              <a:t>@Repository</a:t>
            </a:r>
            <a:endParaRPr lang="en-US" dirty="0">
              <a:solidFill>
                <a:srgbClr val="000000"/>
              </a:solidFill>
              <a:latin typeface="Courier"/>
            </a:endParaRPr>
          </a:p>
          <a:p>
            <a:r>
              <a:rPr lang="en-US" dirty="0"/>
              <a:t>Uses JPA, JDBC, or other persistence tools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28C64D-423C-B17E-2F75-107CD486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API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External Dependencies</a:t>
            </a:r>
          </a:p>
          <a:p>
            <a:pPr marL="0" lvl="0" indent="0">
              <a:buNone/>
            </a:pPr>
            <a:r>
              <a:rPr dirty="0"/>
              <a:t>APIs often integrate with:</a:t>
            </a:r>
          </a:p>
          <a:p>
            <a:pPr lvl="0"/>
            <a:r>
              <a:rPr dirty="0"/>
              <a:t>Databases</a:t>
            </a:r>
          </a:p>
          <a:p>
            <a:pPr lvl="0"/>
            <a:r>
              <a:rPr dirty="0"/>
              <a:t>Message brokers</a:t>
            </a:r>
          </a:p>
          <a:p>
            <a:pPr lvl="0"/>
            <a:r>
              <a:rPr dirty="0"/>
              <a:t>Caches</a:t>
            </a:r>
          </a:p>
          <a:p>
            <a:pPr lvl="0"/>
            <a:r>
              <a:rPr dirty="0"/>
              <a:t>Third-party services</a:t>
            </a:r>
          </a:p>
          <a:p>
            <a:pPr lvl="0"/>
            <a:r>
              <a:rPr dirty="0"/>
              <a:t>Authentication providers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20B978-5C25-40D8-D66D-B6DFF32C02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These dependencies must be handled carefully for reliability and performance.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414256" cy="548960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MVC vs Layered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Is MVC?</a:t>
            </a:r>
          </a:p>
          <a:p>
            <a:pPr marL="0" lvl="0" indent="0">
              <a:buNone/>
            </a:pPr>
            <a:r>
              <a:t>MVC stands for:</a:t>
            </a:r>
          </a:p>
          <a:p>
            <a:pPr lvl="0"/>
            <a:r>
              <a:t>Model</a:t>
            </a:r>
          </a:p>
          <a:p>
            <a:pPr lvl="0"/>
            <a:r>
              <a:t>View</a:t>
            </a:r>
          </a:p>
          <a:p>
            <a:pPr lvl="0"/>
            <a:r>
              <a:t>Controller</a:t>
            </a:r>
          </a:p>
          <a:p>
            <a:pPr marL="0" lvl="0" indent="0">
              <a:buNone/>
            </a:pPr>
            <a:r>
              <a:t>It is mainly used for </a:t>
            </a:r>
            <a:r>
              <a:rPr b="1"/>
              <a:t>UI-based web applications</a:t>
            </a:r>
            <a: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MVC Is Not a Perfect Fit for APIs</a:t>
            </a:r>
          </a:p>
          <a:p>
            <a:pPr lvl="0"/>
            <a:r>
              <a:t>APIs usually do not return views.</a:t>
            </a:r>
          </a:p>
          <a:p>
            <a:pPr lvl="0"/>
            <a:r>
              <a:t>APIs return data (JSON/XML).</a:t>
            </a:r>
          </a:p>
          <a:p>
            <a:pPr lvl="0"/>
            <a:r>
              <a:t>The “View” concept does not really apply.</a:t>
            </a:r>
          </a:p>
          <a:p>
            <a:pPr lvl="0"/>
            <a:r>
              <a:t>Business logic should not live in controllers.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38188E-AD9B-3BA2-C062-4BBA4099A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7414256" cy="548960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MVC vs Layered Architecture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How APIs Actually Use MVC Concepts</a:t>
            </a:r>
          </a:p>
          <a:p>
            <a:pPr lvl="0"/>
            <a:r>
              <a:t>Controller → API Layer</a:t>
            </a:r>
          </a:p>
          <a:p>
            <a:pPr lvl="0"/>
            <a:r>
              <a:t>Model → Data objects (DTOs, Entities)</a:t>
            </a:r>
          </a:p>
          <a:p>
            <a:pPr lvl="0"/>
            <a:r>
              <a:t>View → Not applicable in pure APIs</a:t>
            </a:r>
          </a:p>
          <a:p>
            <a:pPr marL="0" lvl="0" indent="0">
              <a:buNone/>
            </a:pPr>
            <a:r>
              <a:t>Most APIs evolve into </a:t>
            </a:r>
            <a:r>
              <a:rPr b="1"/>
              <a:t>Layered Architecture</a:t>
            </a:r>
            <a:r>
              <a:t>, not pure MVC.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5962BD-8CE9-C0EA-779E-390E1E32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7414256" cy="548960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MVC vs Layered Architecture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Correct Mental Model</a:t>
            </a:r>
          </a:p>
          <a:p>
            <a:pPr marL="0" lvl="0" indent="0">
              <a:buNone/>
            </a:pPr>
            <a:r>
              <a:t>Think in layers, not screens:</a:t>
            </a:r>
          </a:p>
          <a:p>
            <a:pPr lvl="0"/>
            <a:r>
              <a:t>API Layer</a:t>
            </a:r>
          </a:p>
          <a:p>
            <a:pPr lvl="0"/>
            <a:r>
              <a:t>Business Layer</a:t>
            </a:r>
          </a:p>
          <a:p>
            <a:pPr lvl="0"/>
            <a:r>
              <a:t>Data Layer</a:t>
            </a:r>
          </a:p>
          <a:p>
            <a:pPr lvl="0"/>
            <a:r>
              <a:t>Infrastructure Layer</a:t>
            </a:r>
          </a:p>
          <a:p>
            <a:pPr marL="0" lvl="0" indent="0">
              <a:buNone/>
            </a:pPr>
            <a:r>
              <a:t>This improves maintainability and scalability.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8443FD-3E5F-1D7F-9EC8-B8E4A5500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7414256" cy="548960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/>
              <a:t>Layered</a:t>
            </a:r>
            <a:r>
              <a:t> Architecture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311199" cy="548960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Common Misconception: Endpoints vs API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Many People Think</a:t>
            </a:r>
          </a:p>
          <a:p>
            <a:pPr marL="1270000" lvl="0" indent="0">
              <a:buNone/>
            </a:pPr>
            <a:r>
              <a:rPr sz="2000"/>
              <a:t>“The API is just the endpoints.”</a:t>
            </a:r>
          </a:p>
          <a:p>
            <a:pPr marL="0" lvl="0" indent="0">
              <a:buNone/>
            </a:pPr>
            <a:r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GET /users
POST /users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8BECCF7-97F5-7609-BCD1-1E67E2E0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7283092" cy="548960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Common Misconception: Endpoints vs API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What the API Actually Is</a:t>
            </a:r>
          </a:p>
          <a:p>
            <a:pPr marL="0" lvl="0" indent="0">
              <a:buNone/>
            </a:pPr>
            <a:r>
              <a:rPr dirty="0"/>
              <a:t>The API includes:</a:t>
            </a:r>
          </a:p>
          <a:p>
            <a:pPr lvl="0"/>
            <a:r>
              <a:rPr dirty="0"/>
              <a:t>Endpoints</a:t>
            </a:r>
          </a:p>
          <a:p>
            <a:pPr lvl="0"/>
            <a:r>
              <a:rPr dirty="0"/>
              <a:t>Validation rules</a:t>
            </a:r>
          </a:p>
          <a:p>
            <a:pPr lvl="0"/>
            <a:r>
              <a:rPr dirty="0"/>
              <a:t>Business logic</a:t>
            </a:r>
          </a:p>
          <a:p>
            <a:pPr lvl="0"/>
            <a:r>
              <a:rPr dirty="0"/>
              <a:t>Data models</a:t>
            </a:r>
          </a:p>
          <a:p>
            <a:pPr lvl="0"/>
            <a:r>
              <a:rPr dirty="0"/>
              <a:t>Error handling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806A3-97A7-B8B5-6887-EC9625DC8B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Security mechanisms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Documentation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Performance behavior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Reliability behavior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Endpoints are just the </a:t>
            </a:r>
            <a:r>
              <a:rPr lang="en-US" b="1" dirty="0"/>
              <a:t>entry point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Matters</a:t>
            </a:r>
          </a:p>
          <a:p>
            <a:pPr marL="0" lvl="0" indent="0">
              <a:buNone/>
            </a:pPr>
            <a:r>
              <a:t>If you only focus on endpoints:</a:t>
            </a:r>
          </a:p>
          <a:p>
            <a:pPr lvl="0"/>
            <a:r>
              <a:t>Security becomes weak</a:t>
            </a:r>
          </a:p>
          <a:p>
            <a:pPr lvl="0"/>
            <a:r>
              <a:t>Performance suffers</a:t>
            </a:r>
          </a:p>
          <a:p>
            <a:pPr lvl="0"/>
            <a:r>
              <a:t>Scalability breaks</a:t>
            </a:r>
          </a:p>
          <a:p>
            <a:pPr lvl="0"/>
            <a:r>
              <a:t>Faults propagate easily</a:t>
            </a:r>
          </a:p>
          <a:p>
            <a:pPr marL="0" lvl="0" indent="0">
              <a:buNone/>
            </a:pPr>
            <a:r>
              <a:t>Real engineering happens behind the endpoints.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BEEE24-0CC6-0766-9701-CC8ED09C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7133191" cy="548960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Common Misconception: Endpoints vs API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414256" cy="548960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Key Takeaways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APIs come in multiple styles for different needs.</a:t>
            </a:r>
          </a:p>
          <a:p>
            <a:pPr lvl="0"/>
            <a:r>
              <a:t>REST is common, but not the only choice.</a:t>
            </a:r>
          </a:p>
          <a:p>
            <a:pPr lvl="0"/>
            <a:r>
              <a:t>APIs use layered architecture.</a:t>
            </a:r>
          </a:p>
          <a:p>
            <a:pPr lvl="0"/>
            <a:r>
              <a:t>MVC is not the same as API architecture.</a:t>
            </a:r>
          </a:p>
          <a:p>
            <a:pPr lvl="0"/>
            <a:r>
              <a:t>Endpoints are only part of an API.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dirty="0"/>
              <a:t>Next video:</a:t>
            </a:r>
          </a:p>
          <a:p>
            <a:pPr lvl="0"/>
            <a:r>
              <a:rPr dirty="0"/>
              <a:t>Designing a very basic API</a:t>
            </a:r>
          </a:p>
          <a:p>
            <a:pPr lvl="0"/>
            <a:r>
              <a:rPr dirty="0"/>
              <a:t>Understanding controllers, services, repositories</a:t>
            </a:r>
          </a:p>
          <a:p>
            <a:pPr lvl="0"/>
            <a:r>
              <a:rPr dirty="0"/>
              <a:t>Creating a minimal Spring Boot project</a:t>
            </a:r>
          </a:p>
          <a:p>
            <a:pPr lvl="0"/>
            <a:r>
              <a:rPr dirty="0"/>
              <a:t>Seeing how layers interact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Ion Boardroom</vt:lpstr>
      <vt:lpstr>Types of APIs</vt:lpstr>
      <vt:lpstr>Types of APIs</vt:lpstr>
      <vt:lpstr>PowerPoint Presentation</vt:lpstr>
      <vt:lpstr>PowerPoint Presentation</vt:lpstr>
      <vt:lpstr>PowerPoint Presentation</vt:lpstr>
      <vt:lpstr>API Styles (Architectural Styles)</vt:lpstr>
      <vt:lpstr>API Styles (Architectural Styles)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API Architecture</vt:lpstr>
      <vt:lpstr>API Architecture</vt:lpstr>
      <vt:lpstr>API Architecture</vt:lpstr>
      <vt:lpstr>API Architecture</vt:lpstr>
      <vt:lpstr>API Architecture</vt:lpstr>
      <vt:lpstr>API Architecture</vt:lpstr>
      <vt:lpstr>MVC vs Layered Architecture</vt:lpstr>
      <vt:lpstr>MVC vs Layered Architecture</vt:lpstr>
      <vt:lpstr>MVC vs Layered Architecture</vt:lpstr>
      <vt:lpstr>Layered Architecture</vt:lpstr>
      <vt:lpstr>Common Misconception: Endpoints vs API</vt:lpstr>
      <vt:lpstr>Common Misconception: Endpoints vs API</vt:lpstr>
      <vt:lpstr>Common Misconception: Endpoints vs API</vt:lpstr>
      <vt:lpstr>Key Takeaways</vt:lpstr>
      <vt:lpstr>What Comes Next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APIs: Types of APIa</dc:title>
  <dc:creator>Ngane Emmanuel</dc:creator>
  <cp:keywords/>
  <cp:revision>288</cp:revision>
  <dcterms:created xsi:type="dcterms:W3CDTF">2026-01-16T12:57:43Z</dcterms:created>
  <dcterms:modified xsi:type="dcterms:W3CDTF">2026-01-17T15:42:09Z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2026-01-16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