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D1B7D2-B385-42A3-A459-8E0AEC60237C}" v="27" dt="2026-01-20T14:15:33.647"/>
    <p1510:client id="{61B07CD2-C755-415E-9084-954D34A37D2E}" v="133" dt="2026-01-20T15:42:33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0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45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3556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94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0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/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0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43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6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04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6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2489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4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2133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3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931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0"/>
            <a:ext cx="489572" cy="2718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70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711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2489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143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3556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50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061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426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185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89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14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978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9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289050"/>
            <a:ext cx="6619244" cy="2008236"/>
          </a:xfrm>
        </p:spPr>
        <p:txBody>
          <a:bodyPr/>
          <a:lstStyle/>
          <a:p>
            <a:pPr marL="0" lvl="0" indent="0">
              <a:buNone/>
            </a:pPr>
            <a:r>
              <a:rPr sz="6000" dirty="0"/>
              <a:t>REST API Design Fundamentals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297285"/>
            <a:ext cx="6619244" cy="646065"/>
          </a:xfrm>
        </p:spPr>
        <p:txBody>
          <a:bodyPr/>
          <a:lstStyle/>
          <a:p>
            <a:pPr marL="0" lvl="0" indent="0">
              <a:buNone/>
            </a:pPr>
            <a:r>
              <a:t>Building Secure, Scalable, Fault-Tolerant and Low-Latency APIs with Java &amp; Spring Boot</a:t>
            </a:r>
            <a:br/>
            <a:br/>
            <a:r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2026-01-20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Lesson 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Why API Design Comes First</a:t>
            </a:r>
          </a:p>
          <a:p>
            <a:pPr lvl="0"/>
            <a:r>
              <a:rPr dirty="0"/>
              <a:t>API design defines how clients interact with your system.</a:t>
            </a:r>
          </a:p>
          <a:p>
            <a:pPr lvl="0"/>
            <a:r>
              <a:rPr dirty="0"/>
              <a:t>Poor design causes:</a:t>
            </a:r>
          </a:p>
          <a:p>
            <a:pPr lvl="1"/>
            <a:r>
              <a:rPr dirty="0"/>
              <a:t>Confusing usage</a:t>
            </a:r>
          </a:p>
          <a:p>
            <a:pPr lvl="1"/>
            <a:r>
              <a:rPr dirty="0"/>
              <a:t>Security gaps</a:t>
            </a:r>
          </a:p>
          <a:p>
            <a:pPr lvl="1"/>
            <a:r>
              <a:rPr dirty="0"/>
              <a:t>Breaking changes</a:t>
            </a:r>
          </a:p>
          <a:p>
            <a:pPr lvl="1"/>
            <a:r>
              <a:rPr dirty="0"/>
              <a:t>Performance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A25C6-E638-2497-E33E-F583AB3559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Good design enables: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Scalability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Maintainability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Evolvability</a:t>
            </a:r>
            <a:endParaRPr lang="en-US" dirty="0">
              <a:solidFill>
                <a:srgbClr val="000000"/>
              </a:solidFill>
            </a:endParaRPr>
          </a:p>
          <a:p>
            <a:pPr marL="742950" indent="-285750"/>
            <a:r>
              <a:rPr lang="en-US" dirty="0"/>
              <a:t>Design is an engineering decision, not aesthetics.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lesson:</a:t>
            </a:r>
          </a:p>
          <a:p>
            <a:pPr lvl="0"/>
            <a:r>
              <a:t>Understand REST principles.</a:t>
            </a:r>
          </a:p>
          <a:p>
            <a:pPr lvl="0"/>
            <a:r>
              <a:t>Learn how to structure endpoints.</a:t>
            </a:r>
          </a:p>
          <a:p>
            <a:pPr lvl="0"/>
            <a:r>
              <a:t>Use HTTP methods correctly.</a:t>
            </a:r>
          </a:p>
          <a:p>
            <a:pPr lvl="0"/>
            <a:r>
              <a:t>Understand API versioning.</a:t>
            </a:r>
          </a:p>
          <a:p>
            <a:pPr lvl="0"/>
            <a:r>
              <a:t>Know how to pass data safely.</a:t>
            </a:r>
          </a:p>
          <a:p>
            <a:pPr lvl="0"/>
            <a:r>
              <a:t>Avoid common mistakes.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Is REST?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REST Definition</a:t>
            </a:r>
          </a:p>
          <a:p>
            <a:pPr marL="0" lvl="0" indent="0">
              <a:buNone/>
            </a:pPr>
            <a:r>
              <a:rPr dirty="0"/>
              <a:t>REST stands for </a:t>
            </a:r>
            <a:r>
              <a:rPr b="1" dirty="0"/>
              <a:t>Representational State Transfer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dirty="0"/>
              <a:t>It is an architectural style for designing networked applications.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7A2DB-ED49-6C9D-3E8C-2CA8B8B370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REST Principles (High Level)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Stateless communication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Resource-based URLs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Standard HTTP methods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Uniform interface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 err="1"/>
              <a:t>Cacheability</a:t>
            </a:r>
            <a:endParaRPr lang="en-US" dirty="0" err="1">
              <a:solidFill>
                <a:srgbClr val="000000"/>
              </a:solidFill>
            </a:endParaRPr>
          </a:p>
          <a:p>
            <a:r>
              <a:rPr lang="en-US" dirty="0"/>
              <a:t>REST improves scalability </a:t>
            </a:r>
            <a:r>
              <a:rPr lang="en-US"/>
              <a:t>and simplicity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Designing 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Think in Resources, Not Actions</a:t>
            </a:r>
          </a:p>
          <a:p>
            <a:pPr lvl="0"/>
            <a:r>
              <a:rPr dirty="0"/>
              <a:t>Bad: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b="1" dirty="0" err="1">
                <a:solidFill>
                  <a:srgbClr val="FF0000"/>
                </a:solidFill>
                <a:latin typeface="Courier"/>
              </a:rPr>
              <a:t>getUser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b="1" dirty="0" err="1">
                <a:solidFill>
                  <a:srgbClr val="FF0000"/>
                </a:solidFill>
                <a:latin typeface="Courier"/>
              </a:rPr>
              <a:t>createOrder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b="1" dirty="0" err="1">
                <a:solidFill>
                  <a:srgbClr val="FF0000"/>
                </a:solidFill>
                <a:latin typeface="Courier"/>
              </a:rPr>
              <a:t>deleteProduct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EA889-976A-F47A-BB40-0615042D29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Good: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FF0000"/>
                </a:solidFill>
                <a:latin typeface="Courier"/>
              </a:rPr>
              <a:t>/users</a:t>
            </a:r>
            <a:br>
              <a:rPr lang="en-US" b="1" dirty="0">
                <a:solidFill>
                  <a:srgbClr val="FF0000"/>
                </a:solidFill>
                <a:latin typeface="Courier"/>
              </a:rPr>
            </a:br>
            <a:r>
              <a:rPr lang="en-US" b="1" dirty="0">
                <a:solidFill>
                  <a:srgbClr val="FF0000"/>
                </a:solidFill>
                <a:latin typeface="Courier"/>
              </a:rPr>
              <a:t>/orders</a:t>
            </a:r>
            <a:br>
              <a:rPr lang="en-US" b="1" dirty="0">
                <a:solidFill>
                  <a:srgbClr val="FF0000"/>
                </a:solidFill>
                <a:latin typeface="Courier"/>
              </a:rPr>
            </a:br>
            <a:r>
              <a:rPr lang="en-US" b="1" dirty="0">
                <a:solidFill>
                  <a:srgbClr val="FF0000"/>
                </a:solidFill>
                <a:latin typeface="Courier"/>
              </a:rPr>
              <a:t>/products</a:t>
            </a:r>
            <a:endParaRPr lang="en-US" dirty="0">
              <a:solidFill>
                <a:srgbClr val="000000"/>
              </a:solidFill>
              <a:latin typeface="Courier"/>
            </a:endParaRPr>
          </a:p>
          <a:p>
            <a:pPr marL="0" indent="0">
              <a:buNone/>
            </a:pPr>
            <a:r>
              <a:rPr lang="en-US" dirty="0"/>
              <a:t>Use nouns, not verbs.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Resource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b="1" dirty="0"/>
              <a:t>Examples</a:t>
            </a:r>
            <a:r>
              <a:rPr dirty="0"/>
              <a:t>: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/users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/users/</a:t>
            </a:r>
            <a:r>
              <a:rPr dirty="0">
                <a:solidFill>
                  <a:srgbClr val="06287E"/>
                </a:solidFill>
                <a:latin typeface="Courier"/>
              </a:rPr>
              <a:t>{</a:t>
            </a:r>
            <a:r>
              <a:rPr b="1" dirty="0">
                <a:solidFill>
                  <a:srgbClr val="FF0000"/>
                </a:solidFill>
                <a:latin typeface="Courier"/>
              </a:rPr>
              <a:t>id</a:t>
            </a:r>
            <a:r>
              <a:rPr dirty="0">
                <a:solidFill>
                  <a:srgbClr val="06287E"/>
                </a:solidFill>
                <a:latin typeface="Courier"/>
              </a:rPr>
              <a:t>}</a:t>
            </a: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lang="en-US" b="1" dirty="0">
                <a:solidFill>
                  <a:srgbClr val="FF0000"/>
                </a:solidFill>
                <a:latin typeface="Courier"/>
              </a:rPr>
              <a:t>orders/users/</a:t>
            </a:r>
            <a:r>
              <a:rPr lang="en-US" dirty="0">
                <a:solidFill>
                  <a:srgbClr val="06287E"/>
                </a:solidFill>
                <a:latin typeface="Courier"/>
              </a:rPr>
              <a:t>{</a:t>
            </a:r>
            <a:r>
              <a:rPr b="1" dirty="0">
                <a:solidFill>
                  <a:srgbClr val="FF0000"/>
                </a:solidFill>
                <a:latin typeface="Courier"/>
              </a:rPr>
              <a:t>id</a:t>
            </a:r>
            <a:r>
              <a:rPr lang="en-US" dirty="0">
                <a:solidFill>
                  <a:srgbClr val="06287E"/>
                </a:solidFill>
                <a:latin typeface="Courier"/>
              </a:rPr>
              <a:t>}</a:t>
            </a:r>
            <a:endParaRPr lang="en-US" b="1" dirty="0">
              <a:solidFill>
                <a:srgbClr val="FF0000"/>
              </a:solidFill>
              <a:latin typeface="Courier"/>
            </a:endParaRPr>
          </a:p>
          <a:p>
            <a:pPr marL="0" indent="0">
              <a:buNone/>
            </a:pPr>
            <a:r>
              <a:rPr dirty="0"/>
              <a:t>Relationships should be expressed naturally.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HTTP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Common Methods</a:t>
            </a:r>
          </a:p>
          <a:p>
            <a:pPr lvl="0"/>
            <a:r>
              <a:rPr b="1" dirty="0"/>
              <a:t>GET</a:t>
            </a:r>
            <a:r>
              <a:rPr dirty="0"/>
              <a:t> → Retrieve data</a:t>
            </a:r>
          </a:p>
          <a:p>
            <a:pPr lvl="0"/>
            <a:r>
              <a:rPr b="1" dirty="0"/>
              <a:t>POST</a:t>
            </a:r>
            <a:r>
              <a:rPr dirty="0"/>
              <a:t> → Create new resource</a:t>
            </a:r>
          </a:p>
          <a:p>
            <a:pPr lvl="0"/>
            <a:r>
              <a:rPr b="1" dirty="0"/>
              <a:t>PUT</a:t>
            </a:r>
            <a:r>
              <a:rPr dirty="0"/>
              <a:t> → Replace resource</a:t>
            </a:r>
          </a:p>
          <a:p>
            <a:pPr lvl="0"/>
            <a:r>
              <a:rPr b="1" dirty="0"/>
              <a:t>PATCH</a:t>
            </a:r>
            <a:r>
              <a:rPr dirty="0"/>
              <a:t> → Partial update</a:t>
            </a:r>
          </a:p>
          <a:p>
            <a:pPr lvl="0"/>
            <a:r>
              <a:rPr b="1" dirty="0"/>
              <a:t>DELETE</a:t>
            </a:r>
            <a:r>
              <a:rPr dirty="0"/>
              <a:t> → Remove resource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A4A5D-4D48-DC2C-FE40-270DE7ED42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Idempotency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GET → Idempotent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PUT → Idempotent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DELETE → Idempotent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POST → Not idempotent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Important for retries and </a:t>
            </a:r>
            <a:r>
              <a:rPr lang="en-US" dirty="0" err="1"/>
              <a:t>faulttolerance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Passing Data in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Path Parameters</a:t>
            </a:r>
          </a:p>
          <a:p>
            <a:pPr marL="0" lvl="0" indent="0">
              <a:buNone/>
            </a:pPr>
            <a:r>
              <a:rPr dirty="0"/>
              <a:t>Used to identify a specific resource.</a:t>
            </a:r>
          </a:p>
          <a:p>
            <a:pPr marL="0" lvl="0" indent="0">
              <a:buNone/>
            </a:pPr>
            <a:r>
              <a:rPr b="1" dirty="0"/>
              <a:t>Example</a:t>
            </a:r>
            <a:r>
              <a:rPr dirty="0"/>
              <a:t>:</a:t>
            </a:r>
          </a:p>
          <a:p>
            <a:pPr lvl="0" indent="0">
              <a:buNone/>
            </a:pPr>
            <a:br>
              <a:rPr dirty="0"/>
            </a:br>
            <a:r>
              <a:rPr b="1" dirty="0">
                <a:solidFill>
                  <a:srgbClr val="FF0000"/>
                </a:solidFill>
                <a:latin typeface="Courier"/>
              </a:rPr>
              <a:t>GET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FF0000"/>
                </a:solidFill>
                <a:latin typeface="Courier"/>
              </a:rPr>
              <a:t>/users/123</a:t>
            </a:r>
          </a:p>
          <a:p>
            <a:pPr marL="0" lvl="0" indent="0">
              <a:buNone/>
            </a:pPr>
            <a:r>
              <a:rPr dirty="0"/>
              <a:t>Use when the value identifies the resource.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125F7-7071-C72B-CEA6-B5A4E4D0D7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Query Parameters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Used for filtering, sorting, pagination.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FF0000"/>
                </a:solidFill>
                <a:latin typeface="Courier"/>
              </a:rPr>
              <a:t> </a:t>
            </a:r>
            <a:r>
              <a:rPr lang="en-US" sz="1500" b="1" dirty="0">
                <a:solidFill>
                  <a:srgbClr val="FF0000"/>
                </a:solidFill>
                <a:latin typeface="Courier"/>
              </a:rPr>
              <a:t>GET</a:t>
            </a:r>
            <a:r>
              <a:rPr lang="en-US" sz="1500" dirty="0">
                <a:latin typeface="Courier"/>
              </a:rPr>
              <a:t> </a:t>
            </a:r>
            <a:r>
              <a:rPr lang="en-US" sz="1500" b="1" dirty="0">
                <a:solidFill>
                  <a:srgbClr val="FF0000"/>
                </a:solidFill>
                <a:latin typeface="Courier"/>
              </a:rPr>
              <a:t>/</a:t>
            </a:r>
            <a:r>
              <a:rPr lang="en-US" sz="1500" b="1" err="1">
                <a:solidFill>
                  <a:srgbClr val="FF0000"/>
                </a:solidFill>
                <a:latin typeface="Courier"/>
              </a:rPr>
              <a:t>users?role</a:t>
            </a:r>
            <a:r>
              <a:rPr lang="en-US" sz="1500" b="1" dirty="0">
                <a:solidFill>
                  <a:srgbClr val="FF0000"/>
                </a:solidFill>
                <a:latin typeface="Courier"/>
              </a:rPr>
              <a:t>=</a:t>
            </a:r>
            <a:r>
              <a:rPr lang="en-US" sz="1500" b="1" err="1">
                <a:solidFill>
                  <a:srgbClr val="FF0000"/>
                </a:solidFill>
                <a:latin typeface="Courier"/>
              </a:rPr>
              <a:t>admin&amp;page</a:t>
            </a:r>
            <a:r>
              <a:rPr lang="en-US" sz="1500" b="1" dirty="0">
                <a:solidFill>
                  <a:srgbClr val="FF0000"/>
                </a:solidFill>
                <a:latin typeface="Courier"/>
              </a:rPr>
              <a:t>=2</a:t>
            </a:r>
            <a:endParaRPr lang="en-US" sz="1500" dirty="0">
              <a:solidFill>
                <a:srgbClr val="000000"/>
              </a:solidFill>
              <a:latin typeface="Courier"/>
            </a:endParaRPr>
          </a:p>
          <a:p>
            <a:pPr marL="0" indent="0">
              <a:buNone/>
            </a:pPr>
            <a:r>
              <a:rPr lang="en-US" dirty="0"/>
              <a:t>Do not use for sensitive data.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Passing Data in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4468395" cy="256222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Request Body</a:t>
            </a:r>
          </a:p>
          <a:p>
            <a:pPr marL="0" lvl="0" indent="0">
              <a:buNone/>
            </a:pPr>
            <a:r>
              <a:rPr dirty="0"/>
              <a:t>Used to send complex data.</a:t>
            </a:r>
          </a:p>
          <a:p>
            <a:pPr marL="0" lvl="0" indent="0">
              <a:buNone/>
            </a:pPr>
            <a:r>
              <a:rPr dirty="0"/>
              <a:t>Example:</a:t>
            </a:r>
          </a:p>
          <a:p>
            <a:pPr lvl="0" indent="0">
              <a:buNone/>
            </a:pPr>
            <a:r>
              <a:rPr dirty="0">
                <a:solidFill>
                  <a:srgbClr val="06287E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"name"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"Alice"</a:t>
            </a:r>
            <a:r>
              <a:rPr dirty="0">
                <a:solidFill>
                  <a:srgbClr val="06287E"/>
                </a:solidFill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dirty="0">
                <a:solidFill>
                  <a:srgbClr val="902000"/>
                </a:solidFill>
                <a:latin typeface="Courier"/>
              </a:rPr>
              <a:t>"email"</a:t>
            </a:r>
            <a:r>
              <a:rPr dirty="0">
                <a:solidFill>
                  <a:srgbClr val="06287E"/>
                </a:solidFill>
                <a:latin typeface="Courier"/>
              </a:rPr>
              <a:t>: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"alice@example.com"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dirty="0"/>
              <a:t>Used mostly with POST, PUT, PATCH.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F0135-1D65-71FC-CBEC-D26F95C6B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21109" y="1952625"/>
            <a:ext cx="2854295" cy="256222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 dirty="0"/>
              <a:t>Headers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/>
              <a:t>Used for metadata: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/>
              <a:t>Authentication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Content type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/>
              <a:t>Correlation IDs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API Versioning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Versioning Matters</a:t>
            </a:r>
          </a:p>
          <a:p>
            <a:pPr lvl="0"/>
            <a:r>
              <a:t>APIs evolve over time.</a:t>
            </a:r>
          </a:p>
          <a:p>
            <a:pPr lvl="0"/>
            <a:r>
              <a:t>Clients depend on existing behavior.</a:t>
            </a:r>
          </a:p>
          <a:p>
            <a:pPr lvl="0"/>
            <a:r>
              <a:t>Breaking changes must be managed safely.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Versioning Strategies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URI Versioning</a:t>
            </a:r>
          </a:p>
          <a:p>
            <a:pPr lvl="0" indent="0">
              <a:buNone/>
            </a:pP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b="1" dirty="0" err="1">
                <a:solidFill>
                  <a:srgbClr val="FF0000"/>
                </a:solidFill>
                <a:latin typeface="Courier"/>
              </a:rPr>
              <a:t>api</a:t>
            </a:r>
            <a:r>
              <a:rPr b="1" dirty="0">
                <a:solidFill>
                  <a:srgbClr val="FF0000"/>
                </a:solidFill>
                <a:latin typeface="Courier"/>
              </a:rPr>
              <a:t>/v1/users</a:t>
            </a:r>
          </a:p>
          <a:p>
            <a:pPr lvl="0"/>
            <a:r>
              <a:rPr b="1" dirty="0"/>
              <a:t>Header Versioning</a:t>
            </a:r>
          </a:p>
          <a:p>
            <a:pPr lvl="0" indent="0">
              <a:buNone/>
            </a:pPr>
            <a:r>
              <a:rPr b="1" dirty="0">
                <a:solidFill>
                  <a:srgbClr val="FF0000"/>
                </a:solidFill>
                <a:latin typeface="Courier"/>
              </a:rPr>
              <a:t>Accept: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FF0000"/>
                </a:solidFill>
                <a:latin typeface="Courier"/>
              </a:rPr>
              <a:t>application/vnd.company.v1+json</a:t>
            </a:r>
          </a:p>
          <a:p>
            <a:pPr lvl="0"/>
            <a:r>
              <a:rPr b="1" dirty="0"/>
              <a:t>Query Versioning</a:t>
            </a:r>
          </a:p>
          <a:p>
            <a:pPr lvl="0" indent="0">
              <a:buNone/>
            </a:pPr>
            <a:r>
              <a:rPr b="1" dirty="0">
                <a:solidFill>
                  <a:srgbClr val="FF0000"/>
                </a:solidFill>
                <a:latin typeface="Courier"/>
              </a:rPr>
              <a:t>/</a:t>
            </a:r>
            <a:r>
              <a:rPr b="1" dirty="0" err="1">
                <a:solidFill>
                  <a:srgbClr val="FF0000"/>
                </a:solidFill>
                <a:latin typeface="Courier"/>
              </a:rPr>
              <a:t>users?version</a:t>
            </a:r>
            <a:r>
              <a:rPr b="1" dirty="0">
                <a:solidFill>
                  <a:srgbClr val="FF0000"/>
                </a:solidFill>
                <a:latin typeface="Courier"/>
              </a:rPr>
              <a:t>=1</a:t>
            </a:r>
          </a:p>
          <a:p>
            <a:pPr marL="0" lvl="0" indent="0">
              <a:buNone/>
            </a:pPr>
            <a:r>
              <a:rPr dirty="0"/>
              <a:t>URI versioning is most common.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Versioning Best Practices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Only version breaking changes.</a:t>
            </a:r>
          </a:p>
          <a:p>
            <a:pPr lvl="0"/>
            <a:r>
              <a:t>Avoid unnecessary versions.</a:t>
            </a:r>
          </a:p>
          <a:p>
            <a:pPr lvl="0"/>
            <a:r>
              <a:t>Deprecate old versions gracefully.</a:t>
            </a:r>
          </a:p>
          <a:p>
            <a:pPr lvl="0"/>
            <a:r>
              <a:t>Communicate clearly.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Status Codes &amp;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Use HTTP Status Codes Correctly</a:t>
            </a:r>
          </a:p>
          <a:p>
            <a:pPr lvl="0"/>
            <a:r>
              <a:rPr dirty="0"/>
              <a:t>200 → OK</a:t>
            </a:r>
          </a:p>
          <a:p>
            <a:pPr lvl="0"/>
            <a:r>
              <a:rPr dirty="0"/>
              <a:t>201 → Created</a:t>
            </a:r>
          </a:p>
          <a:p>
            <a:pPr lvl="0"/>
            <a:r>
              <a:rPr dirty="0"/>
              <a:t>400 → Bad Request</a:t>
            </a:r>
          </a:p>
          <a:p>
            <a:pPr lvl="0"/>
            <a:r>
              <a:rPr dirty="0"/>
              <a:t>401 → Unauthorized</a:t>
            </a:r>
          </a:p>
          <a:p>
            <a:pPr lvl="0"/>
            <a:r>
              <a:rPr dirty="0"/>
              <a:t>403 → Forbidden</a:t>
            </a:r>
          </a:p>
          <a:p>
            <a:pPr lvl="0"/>
            <a:r>
              <a:rPr dirty="0"/>
              <a:t>404 → Not Found</a:t>
            </a:r>
          </a:p>
          <a:p>
            <a:pPr lvl="0"/>
            <a:r>
              <a:rPr dirty="0"/>
              <a:t>500 → Server Error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CF5B7-9524-594C-08B4-FA676FF4E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4074524" cy="256222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spcBef>
                <a:spcPts val="3000"/>
              </a:spcBef>
              <a:buNone/>
            </a:pPr>
            <a:r>
              <a:rPr lang="en-US" b="1"/>
              <a:t>Error Response Design</a:t>
            </a:r>
            <a:endParaRPr lang="en-US">
              <a:solidFill>
                <a:srgbClr val="000000"/>
              </a:solidFill>
            </a:endParaRPr>
          </a:p>
          <a:p>
            <a:r>
              <a:rPr lang="en-US"/>
              <a:t>Return structured errors:</a:t>
            </a:r>
            <a:endParaRPr lang="en-US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6287E"/>
                </a:solidFill>
                <a:latin typeface="Courier"/>
              </a:rPr>
              <a:t>{</a:t>
            </a:r>
            <a:br>
              <a:rPr lang="en-US" dirty="0">
                <a:solidFill>
                  <a:srgbClr val="06287E"/>
                </a:solidFill>
                <a:latin typeface="Courier"/>
              </a:rPr>
            </a:br>
            <a:r>
              <a:rPr lang="en-US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US" dirty="0">
                <a:solidFill>
                  <a:srgbClr val="902000"/>
                </a:solidFill>
                <a:latin typeface="Courier"/>
              </a:rPr>
              <a:t>"error"</a:t>
            </a:r>
            <a:r>
              <a:rPr lang="en-US" dirty="0">
                <a:solidFill>
                  <a:srgbClr val="06287E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"Invalid request"</a:t>
            </a:r>
            <a:r>
              <a:rPr lang="en-US" dirty="0">
                <a:solidFill>
                  <a:srgbClr val="06287E"/>
                </a:solidFill>
                <a:latin typeface="Courier"/>
              </a:rPr>
              <a:t>,</a:t>
            </a:r>
            <a:br>
              <a:rPr lang="en-US" dirty="0">
                <a:solidFill>
                  <a:srgbClr val="06287E"/>
                </a:solidFill>
                <a:latin typeface="Courier"/>
              </a:rPr>
            </a:br>
            <a:r>
              <a:rPr lang="en-US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US" dirty="0">
                <a:solidFill>
                  <a:srgbClr val="902000"/>
                </a:solidFill>
                <a:latin typeface="Courier"/>
              </a:rPr>
              <a:t>"message"</a:t>
            </a:r>
            <a:r>
              <a:rPr lang="en-US" dirty="0">
                <a:solidFill>
                  <a:srgbClr val="06287E"/>
                </a:solidFill>
                <a:latin typeface="Courier"/>
              </a:rPr>
              <a:t>:</a:t>
            </a:r>
            <a:r>
              <a:rPr lang="en-US" dirty="0">
                <a:latin typeface="Courier"/>
              </a:rPr>
              <a:t> </a:t>
            </a:r>
            <a:r>
              <a:rPr lang="en-US" dirty="0">
                <a:solidFill>
                  <a:srgbClr val="4070A0"/>
                </a:solidFill>
                <a:latin typeface="Courier"/>
              </a:rPr>
              <a:t>"Email is required"</a:t>
            </a:r>
            <a:br>
              <a:rPr lang="en-US" dirty="0">
                <a:solidFill>
                  <a:srgbClr val="4070A0"/>
                </a:solidFill>
                <a:latin typeface="Courier"/>
              </a:rPr>
            </a:br>
            <a:r>
              <a:rPr lang="en-US" dirty="0">
                <a:solidFill>
                  <a:srgbClr val="4070A0"/>
                </a:solidFill>
                <a:latin typeface="Courier"/>
              </a:rPr>
              <a:t>}</a:t>
            </a:r>
            <a:endParaRPr lang="en-US" dirty="0">
              <a:solidFill>
                <a:srgbClr val="000000"/>
              </a:solidFill>
              <a:latin typeface="Courier"/>
            </a:endParaRPr>
          </a:p>
          <a:p>
            <a:r>
              <a:rPr lang="en-US" dirty="0"/>
              <a:t>Avoid leaking internal details.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Pagination &amp; Filtering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Avoid Large Responses</a:t>
            </a:r>
          </a:p>
          <a:p>
            <a:pPr marL="0" lvl="0" indent="0">
              <a:buNone/>
            </a:pPr>
            <a:r>
              <a:t>Use pagination:</a:t>
            </a:r>
          </a:p>
          <a:p>
            <a:pPr lvl="0" indent="0">
              <a:buNone/>
            </a:pPr>
            <a:r>
              <a:rPr b="1">
                <a:solidFill>
                  <a:srgbClr val="FF000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/users?page=1&amp;size=20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Filtering &amp; Sorting</a:t>
            </a:r>
          </a:p>
          <a:p>
            <a:pPr lvl="0" indent="0">
              <a:buNone/>
            </a:pPr>
            <a:r>
              <a:rPr b="1">
                <a:solidFill>
                  <a:srgbClr val="FF0000"/>
                </a:solidFill>
                <a:latin typeface="Courier"/>
              </a:rPr>
              <a:t>GET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/orders?status=PAID&amp;sort=date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Common Design Mistakes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Using verbs in URLs</a:t>
            </a:r>
          </a:p>
          <a:p>
            <a:pPr lvl="0"/>
            <a:r>
              <a:t>Ignoring HTTP status codes</a:t>
            </a:r>
          </a:p>
          <a:p>
            <a:pPr lvl="0"/>
            <a:r>
              <a:t>Overloading endpoints</a:t>
            </a:r>
          </a:p>
          <a:p>
            <a:pPr lvl="0"/>
            <a:r>
              <a:t>Breaking clients unintentionally</a:t>
            </a:r>
          </a:p>
          <a:p>
            <a:pPr lvl="0"/>
            <a:r>
              <a:t>Mixing responsibilities</a:t>
            </a:r>
          </a:p>
          <a:p>
            <a:pPr lvl="0"/>
            <a:r>
              <a:t>Inconsistent naming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Design Enables Security &amp;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Why This Matters Later</a:t>
            </a:r>
          </a:p>
          <a:p>
            <a:pPr marL="0" lvl="0" indent="0">
              <a:buNone/>
            </a:pPr>
            <a:r>
              <a:t>Good design:</a:t>
            </a:r>
          </a:p>
          <a:p>
            <a:pPr lvl="0"/>
            <a:r>
              <a:t>Simplifies authentication</a:t>
            </a:r>
          </a:p>
          <a:p>
            <a:pPr lvl="0"/>
            <a:r>
              <a:t>Enables caching</a:t>
            </a:r>
          </a:p>
          <a:p>
            <a:pPr lvl="0"/>
            <a:r>
              <a:t>Improves monitoring</a:t>
            </a:r>
          </a:p>
          <a:p>
            <a:pPr lvl="0"/>
            <a:r>
              <a:t>Reduces attack surface</a:t>
            </a:r>
          </a:p>
          <a:p>
            <a:pPr lvl="0"/>
            <a:r>
              <a:t>Enables scalability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dirty="0"/>
              <a:t>What Comes Next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Next Lesson</a:t>
            </a:r>
          </a:p>
          <a:p>
            <a:pPr lvl="0"/>
            <a:r>
              <a:t>Build a basic Spring Boot API</a:t>
            </a:r>
          </a:p>
          <a:p>
            <a:pPr lvl="0"/>
            <a:r>
              <a:t>Apply these design principles</a:t>
            </a:r>
          </a:p>
          <a:p>
            <a:pPr lvl="0"/>
            <a:r>
              <a:t>Create clean endpoints</a:t>
            </a:r>
          </a:p>
          <a:p>
            <a:pPr lvl="0"/>
            <a:r>
              <a:t>Prepare for security hardening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Ion Boardroom</vt:lpstr>
      <vt:lpstr>REST API Design Fundamentals</vt:lpstr>
      <vt:lpstr>Lesson Context</vt:lpstr>
      <vt:lpstr>Learning Objectives</vt:lpstr>
      <vt:lpstr>What Is REST?</vt:lpstr>
      <vt:lpstr>Designing Resources</vt:lpstr>
      <vt:lpstr>Resource Hierarchy</vt:lpstr>
      <vt:lpstr>HTTP Methods</vt:lpstr>
      <vt:lpstr>Passing Data in APIs</vt:lpstr>
      <vt:lpstr>Passing Data in APIs</vt:lpstr>
      <vt:lpstr>API Versioning</vt:lpstr>
      <vt:lpstr>Versioning Strategies</vt:lpstr>
      <vt:lpstr>Versioning Best Practices</vt:lpstr>
      <vt:lpstr>Status Codes &amp; Errors</vt:lpstr>
      <vt:lpstr>Pagination &amp; Filtering</vt:lpstr>
      <vt:lpstr>Common Design Mistakes</vt:lpstr>
      <vt:lpstr>Design Enables Security &amp; Performance</vt:lpstr>
      <vt:lpstr>What Comes Next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Design Fundamentals</dc:title>
  <dc:creator>Ngane Emmanuel</dc:creator>
  <cp:keywords/>
  <cp:revision>93</cp:revision>
  <dcterms:created xsi:type="dcterms:W3CDTF">2026-01-20T13:07:57Z</dcterms:created>
  <dcterms:modified xsi:type="dcterms:W3CDTF">2026-01-20T15:42:39Z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2026-01-20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